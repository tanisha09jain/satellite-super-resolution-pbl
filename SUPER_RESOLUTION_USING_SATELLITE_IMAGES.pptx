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5143500" cx="9144000"/>
  <p:notesSz cx="6858000" cy="9144000"/>
  <p:embeddedFontLst>
    <p:embeddedFont>
      <p:font typeface="Geo"/>
      <p:regular r:id="rId21"/>
      <p:italic r:id="rId22"/>
    </p:embeddedFont>
    <p:embeddedFont>
      <p:font typeface="Anton"/>
      <p:regular r:id="rId23"/>
    </p:embeddedFont>
    <p:embeddedFont>
      <p:font typeface="Raleway"/>
      <p:regular r:id="rId24"/>
      <p:bold r:id="rId25"/>
      <p:italic r:id="rId26"/>
      <p:boldItalic r:id="rId27"/>
    </p:embeddedFont>
    <p:embeddedFont>
      <p:font typeface="Play"/>
      <p:regular r:id="rId28"/>
      <p:bold r:id="rId29"/>
    </p:embeddedFont>
    <p:embeddedFont>
      <p:font typeface="Proxima Nova"/>
      <p:bold r:id="rId30"/>
      <p:boldItalic r:id="rId31"/>
    </p:embeddedFont>
    <p:embeddedFont>
      <p:font typeface="Tenor Sans"/>
      <p:regular r:id="rId32"/>
    </p:embeddedFont>
    <p:embeddedFont>
      <p:font typeface="Inter"/>
      <p:regular r:id="rId33"/>
      <p:bold r:id="rId34"/>
      <p:italic r:id="rId35"/>
      <p:boldItalic r:id="rId36"/>
    </p:embeddedFont>
    <p:embeddedFont>
      <p:font typeface="Helvetica Neue"/>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5E40760-9282-409B-B321-31BF8F4823D4}">
  <a:tblStyle styleId="{25E40760-9282-409B-B321-31BF8F4823D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boldItalic.fntdata"/><Relationship Id="rId20" Type="http://schemas.openxmlformats.org/officeDocument/2006/relationships/slide" Target="slides/slide13.xml"/><Relationship Id="rId22" Type="http://schemas.openxmlformats.org/officeDocument/2006/relationships/font" Target="fonts/Geo-italic.fntdata"/><Relationship Id="rId21" Type="http://schemas.openxmlformats.org/officeDocument/2006/relationships/font" Target="fonts/Geo-regular.fntdata"/><Relationship Id="rId24" Type="http://schemas.openxmlformats.org/officeDocument/2006/relationships/font" Target="fonts/Raleway-regular.fntdata"/><Relationship Id="rId23" Type="http://schemas.openxmlformats.org/officeDocument/2006/relationships/font" Target="fonts/Anton-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aleway-italic.fntdata"/><Relationship Id="rId25" Type="http://schemas.openxmlformats.org/officeDocument/2006/relationships/font" Target="fonts/Raleway-bold.fntdata"/><Relationship Id="rId28" Type="http://schemas.openxmlformats.org/officeDocument/2006/relationships/font" Target="fonts/Play-regular.fntdata"/><Relationship Id="rId27" Type="http://schemas.openxmlformats.org/officeDocument/2006/relationships/font" Target="fonts/Raleway-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Play-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roximaNova-boldItalic.fntdata"/><Relationship Id="rId30" Type="http://schemas.openxmlformats.org/officeDocument/2006/relationships/font" Target="fonts/ProximaNova-bold.fntdata"/><Relationship Id="rId11" Type="http://schemas.openxmlformats.org/officeDocument/2006/relationships/slide" Target="slides/slide4.xml"/><Relationship Id="rId33" Type="http://schemas.openxmlformats.org/officeDocument/2006/relationships/font" Target="fonts/Inter-regular.fntdata"/><Relationship Id="rId10" Type="http://schemas.openxmlformats.org/officeDocument/2006/relationships/slide" Target="slides/slide3.xml"/><Relationship Id="rId32" Type="http://schemas.openxmlformats.org/officeDocument/2006/relationships/font" Target="fonts/TenorSans-regular.fntdata"/><Relationship Id="rId13" Type="http://schemas.openxmlformats.org/officeDocument/2006/relationships/slide" Target="slides/slide6.xml"/><Relationship Id="rId35" Type="http://schemas.openxmlformats.org/officeDocument/2006/relationships/font" Target="fonts/Inter-italic.fntdata"/><Relationship Id="rId12" Type="http://schemas.openxmlformats.org/officeDocument/2006/relationships/slide" Target="slides/slide5.xml"/><Relationship Id="rId34" Type="http://schemas.openxmlformats.org/officeDocument/2006/relationships/font" Target="fonts/Inter-bold.fntdata"/><Relationship Id="rId15" Type="http://schemas.openxmlformats.org/officeDocument/2006/relationships/slide" Target="slides/slide8.xml"/><Relationship Id="rId37" Type="http://schemas.openxmlformats.org/officeDocument/2006/relationships/font" Target="fonts/HelveticaNeue-regular.fntdata"/><Relationship Id="rId14" Type="http://schemas.openxmlformats.org/officeDocument/2006/relationships/slide" Target="slides/slide7.xml"/><Relationship Id="rId36" Type="http://schemas.openxmlformats.org/officeDocument/2006/relationships/font" Target="fonts/Inter-boldItalic.fntdata"/><Relationship Id="rId17" Type="http://schemas.openxmlformats.org/officeDocument/2006/relationships/slide" Target="slides/slide10.xml"/><Relationship Id="rId39" Type="http://schemas.openxmlformats.org/officeDocument/2006/relationships/font" Target="fonts/HelveticaNeue-italic.fntdata"/><Relationship Id="rId16" Type="http://schemas.openxmlformats.org/officeDocument/2006/relationships/slide" Target="slides/slide9.xml"/><Relationship Id="rId38" Type="http://schemas.openxmlformats.org/officeDocument/2006/relationships/font" Target="fonts/HelveticaNeue-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beb9528546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beb9528546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e5907bb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de5907bb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beb9528546_2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3beb9528546_2_8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eb9528546_2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3beb9528546_2_9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e5907bbd1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de5907bbd1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eb9528546_2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3beb9528546_2_1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beb9528546_2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3beb9528546_2_1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beb9528546_2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g3beb9528546_2_1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beb9528546_2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g3beb9528546_2_1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beb9528546_2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3beb9528546_2_1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beb9528546_2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g3beb9528546_2_1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beb9528546_2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g3beb9528546_2_1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beb9528546_2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3beb9528546_2_1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3.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png"/><Relationship Id="rId9"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17.png"/><Relationship Id="rId7" Type="http://schemas.openxmlformats.org/officeDocument/2006/relationships/image" Target="../media/image7.png"/><Relationship Id="rId8"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8.jpg"/><Relationship Id="rId4" Type="http://schemas.openxmlformats.org/officeDocument/2006/relationships/image" Target="../media/image19.png"/><Relationship Id="rId5"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28" name="Shape 128"/>
        <p:cNvGrpSpPr/>
        <p:nvPr/>
      </p:nvGrpSpPr>
      <p:grpSpPr>
        <a:xfrm>
          <a:off x="0" y="0"/>
          <a:ext cx="0" cy="0"/>
          <a:chOff x="0" y="0"/>
          <a:chExt cx="0" cy="0"/>
        </a:xfrm>
      </p:grpSpPr>
      <p:sp>
        <p:nvSpPr>
          <p:cNvPr id="129" name="Google Shape;129;p25"/>
          <p:cNvSpPr/>
          <p:nvPr/>
        </p:nvSpPr>
        <p:spPr>
          <a:xfrm>
            <a:off x="1132322" y="-867928"/>
            <a:ext cx="6879355" cy="6879355"/>
          </a:xfrm>
          <a:custGeom>
            <a:rect b="b" l="l" r="r" t="t"/>
            <a:pathLst>
              <a:path extrusionOk="0" h="13758710" w="13758710">
                <a:moveTo>
                  <a:pt x="0" y="0"/>
                </a:moveTo>
                <a:lnTo>
                  <a:pt x="13758710" y="0"/>
                </a:lnTo>
                <a:lnTo>
                  <a:pt x="13758710" y="13758710"/>
                </a:lnTo>
                <a:lnTo>
                  <a:pt x="0" y="13758710"/>
                </a:lnTo>
                <a:lnTo>
                  <a:pt x="0" y="0"/>
                </a:lnTo>
                <a:close/>
              </a:path>
            </a:pathLst>
          </a:custGeom>
          <a:blipFill rotWithShape="1">
            <a:blip r:embed="rId3">
              <a:alphaModFix/>
            </a:blip>
            <a:stretch>
              <a:fillRect b="0" l="0" r="0" t="0"/>
            </a:stretch>
          </a:blipFill>
          <a:ln>
            <a:noFill/>
          </a:ln>
        </p:spPr>
      </p:sp>
      <p:sp>
        <p:nvSpPr>
          <p:cNvPr id="130" name="Google Shape;130;p25"/>
          <p:cNvSpPr txBox="1"/>
          <p:nvPr/>
        </p:nvSpPr>
        <p:spPr>
          <a:xfrm>
            <a:off x="744167" y="1569767"/>
            <a:ext cx="7520700" cy="3558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1700" u="none" cap="none" strike="noStrike">
                <a:solidFill>
                  <a:srgbClr val="FFFFFF"/>
                </a:solidFill>
                <a:latin typeface="Anton"/>
                <a:ea typeface="Anton"/>
                <a:cs typeface="Anton"/>
                <a:sym typeface="Anton"/>
              </a:rPr>
              <a:t>DEEP LEARNING FOR SINGLE IMAGE SUPER RESOLUTION USING SATELLITE IMAGES</a:t>
            </a:r>
            <a:endParaRPr sz="700"/>
          </a:p>
          <a:p>
            <a:pPr indent="0" lvl="0" marL="0" marR="0" rtl="0" algn="ctr">
              <a:lnSpc>
                <a:spcPct val="140000"/>
              </a:lnSpc>
              <a:spcBef>
                <a:spcPts val="0"/>
              </a:spcBef>
              <a:spcAft>
                <a:spcPts val="0"/>
              </a:spcAft>
              <a:buNone/>
            </a:pPr>
            <a:r>
              <a:t/>
            </a:r>
            <a:endParaRPr b="0" i="0" sz="1700" u="none" cap="none" strike="noStrike">
              <a:solidFill>
                <a:srgbClr val="FFFFFF"/>
              </a:solidFill>
              <a:latin typeface="Anton"/>
              <a:ea typeface="Anton"/>
              <a:cs typeface="Anton"/>
              <a:sym typeface="Anton"/>
            </a:endParaRPr>
          </a:p>
          <a:p>
            <a:pPr indent="0" lvl="0" marL="0" marR="0" rtl="0" algn="ctr">
              <a:lnSpc>
                <a:spcPct val="140000"/>
              </a:lnSpc>
              <a:spcBef>
                <a:spcPts val="0"/>
              </a:spcBef>
              <a:spcAft>
                <a:spcPts val="0"/>
              </a:spcAft>
              <a:buNone/>
            </a:pPr>
            <a:r>
              <a:rPr b="0" i="0" lang="en" sz="1700" u="none" cap="none" strike="noStrike">
                <a:solidFill>
                  <a:srgbClr val="FFFFFF"/>
                </a:solidFill>
                <a:latin typeface="Anton"/>
                <a:ea typeface="Anton"/>
                <a:cs typeface="Anton"/>
                <a:sym typeface="Anton"/>
              </a:rPr>
              <a:t>SUBMITTED BY: TANISHA JAIN</a:t>
            </a:r>
            <a:endParaRPr b="0" i="0" sz="1700" u="none" cap="none" strike="noStrike">
              <a:solidFill>
                <a:srgbClr val="FFFFFF"/>
              </a:solidFill>
              <a:latin typeface="Anton"/>
              <a:ea typeface="Anton"/>
              <a:cs typeface="Anton"/>
              <a:sym typeface="Anton"/>
            </a:endParaRPr>
          </a:p>
          <a:p>
            <a:pPr indent="0" lvl="0" marL="0" marR="0" rtl="0" algn="ctr">
              <a:lnSpc>
                <a:spcPct val="140000"/>
              </a:lnSpc>
              <a:spcBef>
                <a:spcPts val="0"/>
              </a:spcBef>
              <a:spcAft>
                <a:spcPts val="0"/>
              </a:spcAft>
              <a:buNone/>
            </a:pPr>
            <a:r>
              <a:rPr lang="en" sz="1700">
                <a:solidFill>
                  <a:srgbClr val="FFFFFF"/>
                </a:solidFill>
                <a:latin typeface="Anton"/>
                <a:ea typeface="Anton"/>
                <a:cs typeface="Anton"/>
                <a:sym typeface="Anton"/>
              </a:rPr>
              <a:t>   YUVIKA AGARWAL</a:t>
            </a:r>
            <a:endParaRPr sz="1700">
              <a:solidFill>
                <a:srgbClr val="FFFFFF"/>
              </a:solidFill>
              <a:latin typeface="Anton"/>
              <a:ea typeface="Anton"/>
              <a:cs typeface="Anton"/>
              <a:sym typeface="Anton"/>
            </a:endParaRPr>
          </a:p>
          <a:p>
            <a:pPr indent="0" lvl="0" marL="0" marR="0" rtl="0" algn="ctr">
              <a:lnSpc>
                <a:spcPct val="140000"/>
              </a:lnSpc>
              <a:spcBef>
                <a:spcPts val="0"/>
              </a:spcBef>
              <a:spcAft>
                <a:spcPts val="0"/>
              </a:spcAft>
              <a:buNone/>
            </a:pPr>
            <a:r>
              <a:rPr b="0" i="0" lang="en" sz="1700" u="none" cap="none" strike="noStrike">
                <a:solidFill>
                  <a:srgbClr val="FFFFFF"/>
                </a:solidFill>
                <a:latin typeface="Anton"/>
                <a:ea typeface="Anton"/>
                <a:cs typeface="Anton"/>
                <a:sym typeface="Anton"/>
              </a:rPr>
              <a:t>REGISTRATION NUMBER: 2427030775</a:t>
            </a:r>
            <a:endParaRPr b="0" i="0" sz="1700" u="none" cap="none" strike="noStrike">
              <a:solidFill>
                <a:srgbClr val="FFFFFF"/>
              </a:solidFill>
              <a:latin typeface="Anton"/>
              <a:ea typeface="Anton"/>
              <a:cs typeface="Anton"/>
              <a:sym typeface="Anton"/>
            </a:endParaRPr>
          </a:p>
          <a:p>
            <a:pPr indent="0" lvl="0" marL="0" marR="0" rtl="0" algn="ctr">
              <a:lnSpc>
                <a:spcPct val="140000"/>
              </a:lnSpc>
              <a:spcBef>
                <a:spcPts val="0"/>
              </a:spcBef>
              <a:spcAft>
                <a:spcPts val="0"/>
              </a:spcAft>
              <a:buNone/>
            </a:pPr>
            <a:r>
              <a:rPr lang="en" sz="1700">
                <a:solidFill>
                  <a:srgbClr val="FFFFFF"/>
                </a:solidFill>
                <a:latin typeface="Anton"/>
                <a:ea typeface="Anton"/>
                <a:cs typeface="Anton"/>
                <a:sym typeface="Anton"/>
              </a:rPr>
              <a:t>2427030008</a:t>
            </a:r>
            <a:endParaRPr sz="1700">
              <a:solidFill>
                <a:srgbClr val="FFFFFF"/>
              </a:solidFill>
              <a:latin typeface="Anton"/>
              <a:ea typeface="Anton"/>
              <a:cs typeface="Anton"/>
              <a:sym typeface="Anton"/>
            </a:endParaRPr>
          </a:p>
          <a:p>
            <a:pPr indent="0" lvl="0" marL="0" marR="0" rtl="0" algn="ctr">
              <a:lnSpc>
                <a:spcPct val="140000"/>
              </a:lnSpc>
              <a:spcBef>
                <a:spcPts val="0"/>
              </a:spcBef>
              <a:spcAft>
                <a:spcPts val="0"/>
              </a:spcAft>
              <a:buNone/>
            </a:pPr>
            <a:r>
              <a:rPr b="0" i="0" lang="en" sz="1700" u="none" cap="none" strike="noStrike">
                <a:solidFill>
                  <a:srgbClr val="FFFFFF"/>
                </a:solidFill>
                <a:latin typeface="Anton"/>
                <a:ea typeface="Anton"/>
                <a:cs typeface="Anton"/>
                <a:sym typeface="Anton"/>
              </a:rPr>
              <a:t>COURSE: PBL-2</a:t>
            </a:r>
            <a:endParaRPr sz="700"/>
          </a:p>
          <a:p>
            <a:pPr indent="0" lvl="0" marL="0" marR="0" rtl="0" algn="ctr">
              <a:lnSpc>
                <a:spcPct val="140000"/>
              </a:lnSpc>
              <a:spcBef>
                <a:spcPts val="0"/>
              </a:spcBef>
              <a:spcAft>
                <a:spcPts val="0"/>
              </a:spcAft>
              <a:buNone/>
            </a:pPr>
            <a:r>
              <a:rPr b="0" i="0" lang="en" sz="1700" u="none" cap="none" strike="noStrike">
                <a:solidFill>
                  <a:srgbClr val="FFFFFF"/>
                </a:solidFill>
                <a:latin typeface="Anton"/>
                <a:ea typeface="Anton"/>
                <a:cs typeface="Anton"/>
                <a:sym typeface="Anton"/>
              </a:rPr>
              <a:t>DEPARTMENT: COMPUTER SCIENCE ENGINEERING</a:t>
            </a:r>
            <a:endParaRPr sz="700"/>
          </a:p>
          <a:p>
            <a:pPr indent="0" lvl="0" marL="0" marR="0" rtl="0" algn="ctr">
              <a:lnSpc>
                <a:spcPct val="140000"/>
              </a:lnSpc>
              <a:spcBef>
                <a:spcPts val="0"/>
              </a:spcBef>
              <a:spcAft>
                <a:spcPts val="0"/>
              </a:spcAft>
              <a:buNone/>
            </a:pPr>
            <a:r>
              <a:rPr b="0" i="0" lang="en" sz="1700" u="none" cap="none" strike="noStrike">
                <a:solidFill>
                  <a:srgbClr val="FFFFFF"/>
                </a:solidFill>
                <a:latin typeface="Anton"/>
                <a:ea typeface="Anton"/>
                <a:cs typeface="Anton"/>
                <a:sym typeface="Anton"/>
              </a:rPr>
              <a:t>GUIDE: MS NEHA</a:t>
            </a:r>
            <a:endParaRPr sz="700"/>
          </a:p>
          <a:p>
            <a:pPr indent="0" lvl="0" marL="0" marR="0" rtl="0" algn="ctr">
              <a:lnSpc>
                <a:spcPct val="140000"/>
              </a:lnSpc>
              <a:spcBef>
                <a:spcPts val="0"/>
              </a:spcBef>
              <a:spcAft>
                <a:spcPts val="0"/>
              </a:spcAft>
              <a:buNone/>
            </a:pPr>
            <a:r>
              <a:t/>
            </a:r>
            <a:endParaRPr b="0" i="0" sz="1700" u="none" cap="none" strike="noStrike">
              <a:solidFill>
                <a:srgbClr val="FFFFFF"/>
              </a:solidFill>
              <a:latin typeface="Anton"/>
              <a:ea typeface="Anton"/>
              <a:cs typeface="Anton"/>
              <a:sym typeface="Anton"/>
            </a:endParaRPr>
          </a:p>
        </p:txBody>
      </p:sp>
      <p:cxnSp>
        <p:nvCxnSpPr>
          <p:cNvPr id="131" name="Google Shape;131;p25"/>
          <p:cNvCxnSpPr/>
          <p:nvPr/>
        </p:nvCxnSpPr>
        <p:spPr>
          <a:xfrm>
            <a:off x="0" y="4808087"/>
            <a:ext cx="5326200" cy="0"/>
          </a:xfrm>
          <a:prstGeom prst="straightConnector1">
            <a:avLst/>
          </a:prstGeom>
          <a:noFill/>
          <a:ln cap="flat" cmpd="sng" w="19050">
            <a:solidFill>
              <a:srgbClr val="FFFFFF"/>
            </a:solidFill>
            <a:prstDash val="solid"/>
            <a:round/>
            <a:headEnd len="sm" w="sm" type="none"/>
            <a:tailEnd len="lg" w="lg" type="oval"/>
          </a:ln>
        </p:spPr>
      </p:cxnSp>
      <p:sp>
        <p:nvSpPr>
          <p:cNvPr id="132" name="Google Shape;132;p25"/>
          <p:cNvSpPr txBox="1"/>
          <p:nvPr/>
        </p:nvSpPr>
        <p:spPr>
          <a:xfrm flipH="1">
            <a:off x="5326200" y="4347791"/>
            <a:ext cx="3002400" cy="277200"/>
          </a:xfrm>
          <a:prstGeom prst="rect">
            <a:avLst/>
          </a:prstGeom>
          <a:noFill/>
          <a:ln>
            <a:noFill/>
          </a:ln>
        </p:spPr>
        <p:txBody>
          <a:bodyPr anchorCtr="0" anchor="t" bIns="0" lIns="0" spcFirstLastPara="1" rIns="0" wrap="square" tIns="0">
            <a:spAutoFit/>
          </a:bodyPr>
          <a:lstStyle/>
          <a:p>
            <a:pPr indent="0" lvl="0" marL="0" marR="0" rtl="0" algn="r">
              <a:lnSpc>
                <a:spcPct val="140011"/>
              </a:lnSpc>
              <a:spcBef>
                <a:spcPts val="0"/>
              </a:spcBef>
              <a:spcAft>
                <a:spcPts val="0"/>
              </a:spcAft>
              <a:buNone/>
            </a:pPr>
            <a:r>
              <a:rPr b="0" i="0" lang="en" sz="1800" u="none" cap="none" strike="noStrike">
                <a:solidFill>
                  <a:srgbClr val="FFFFFF"/>
                </a:solidFill>
                <a:latin typeface="Inter"/>
                <a:ea typeface="Inter"/>
                <a:cs typeface="Inter"/>
                <a:sym typeface="Inter"/>
              </a:rPr>
              <a:t>SATELLITE IMAGING</a:t>
            </a:r>
            <a:endParaRPr sz="700"/>
          </a:p>
        </p:txBody>
      </p:sp>
      <p:sp>
        <p:nvSpPr>
          <p:cNvPr id="133" name="Google Shape;133;p25"/>
          <p:cNvSpPr/>
          <p:nvPr/>
        </p:nvSpPr>
        <p:spPr>
          <a:xfrm>
            <a:off x="5226631" y="3550594"/>
            <a:ext cx="199110" cy="199110"/>
          </a:xfrm>
          <a:custGeom>
            <a:rect b="b" l="l" r="r" t="t"/>
            <a:pathLst>
              <a:path extrusionOk="0" h="398219" w="398219">
                <a:moveTo>
                  <a:pt x="0" y="0"/>
                </a:moveTo>
                <a:lnTo>
                  <a:pt x="398220" y="0"/>
                </a:lnTo>
                <a:lnTo>
                  <a:pt x="398220" y="398219"/>
                </a:lnTo>
                <a:lnTo>
                  <a:pt x="0" y="398219"/>
                </a:lnTo>
                <a:lnTo>
                  <a:pt x="0" y="0"/>
                </a:lnTo>
                <a:close/>
              </a:path>
            </a:pathLst>
          </a:custGeom>
          <a:blipFill rotWithShape="1">
            <a:blip r:embed="rId4">
              <a:alphaModFix/>
            </a:blip>
            <a:stretch>
              <a:fillRect b="0" l="0" r="0" t="0"/>
            </a:stretch>
          </a:blipFill>
          <a:ln>
            <a:noFill/>
          </a:ln>
        </p:spPr>
      </p:sp>
      <p:grpSp>
        <p:nvGrpSpPr>
          <p:cNvPr id="134" name="Google Shape;134;p25"/>
          <p:cNvGrpSpPr/>
          <p:nvPr/>
        </p:nvGrpSpPr>
        <p:grpSpPr>
          <a:xfrm>
            <a:off x="907784" y="1278875"/>
            <a:ext cx="8236216" cy="277087"/>
            <a:chOff x="-1717600" y="-66675"/>
            <a:chExt cx="21963243" cy="738900"/>
          </a:xfrm>
        </p:grpSpPr>
        <p:sp>
          <p:nvSpPr>
            <p:cNvPr id="135" name="Google Shape;135;p25"/>
            <p:cNvSpPr txBox="1"/>
            <p:nvPr/>
          </p:nvSpPr>
          <p:spPr>
            <a:xfrm>
              <a:off x="-1717600" y="-66675"/>
              <a:ext cx="9361800" cy="7389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0" i="0" lang="en" sz="1800" u="none" cap="none" strike="noStrike">
                  <a:solidFill>
                    <a:srgbClr val="FFFFFF"/>
                  </a:solidFill>
                  <a:latin typeface="Inter"/>
                  <a:ea typeface="Inter"/>
                  <a:cs typeface="Inter"/>
                  <a:sym typeface="Inter"/>
                </a:rPr>
                <a:t>THE MYSTERIES OF THE</a:t>
              </a:r>
              <a:endParaRPr sz="700"/>
            </a:p>
          </p:txBody>
        </p:sp>
        <p:cxnSp>
          <p:nvCxnSpPr>
            <p:cNvPr id="136" name="Google Shape;136;p25"/>
            <p:cNvCxnSpPr/>
            <p:nvPr/>
          </p:nvCxnSpPr>
          <p:spPr>
            <a:xfrm>
              <a:off x="6893328" y="384311"/>
              <a:ext cx="13352315" cy="0"/>
            </a:xfrm>
            <a:prstGeom prst="straightConnector1">
              <a:avLst/>
            </a:prstGeom>
            <a:noFill/>
            <a:ln cap="flat" cmpd="sng" w="25400">
              <a:solidFill>
                <a:srgbClr val="FFFFFF"/>
              </a:solidFill>
              <a:prstDash val="solid"/>
              <a:round/>
              <a:headEnd len="lg" w="lg" type="oval"/>
              <a:tailEnd len="sm" w="sm" type="none"/>
            </a:ln>
          </p:spPr>
        </p:cxnSp>
        <p:sp>
          <p:nvSpPr>
            <p:cNvPr id="137" name="Google Shape;137;p25"/>
            <p:cNvSpPr/>
            <p:nvPr/>
          </p:nvSpPr>
          <p:spPr>
            <a:xfrm>
              <a:off x="6719432" y="118832"/>
              <a:ext cx="530959" cy="530959"/>
            </a:xfrm>
            <a:custGeom>
              <a:rect b="b" l="l" r="r" t="t"/>
              <a:pathLst>
                <a:path extrusionOk="0" h="530959" w="530959">
                  <a:moveTo>
                    <a:pt x="0" y="0"/>
                  </a:moveTo>
                  <a:lnTo>
                    <a:pt x="530960" y="0"/>
                  </a:lnTo>
                  <a:lnTo>
                    <a:pt x="530960" y="530959"/>
                  </a:lnTo>
                  <a:lnTo>
                    <a:pt x="0" y="530959"/>
                  </a:lnTo>
                  <a:lnTo>
                    <a:pt x="0" y="0"/>
                  </a:lnTo>
                  <a:close/>
                </a:path>
              </a:pathLst>
            </a:custGeom>
            <a:blipFill rotWithShape="1">
              <a:blip r:embed="rId4">
                <a:alphaModFix/>
              </a:blip>
              <a:stretch>
                <a:fillRect b="0" l="0" r="0" t="0"/>
              </a:stretch>
            </a:blipFill>
            <a:ln>
              <a:noFill/>
            </a:ln>
          </p:spPr>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nvSpPr>
        <p:spPr>
          <a:xfrm>
            <a:off x="27975" y="131025"/>
            <a:ext cx="9144000" cy="1323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700">
                <a:solidFill>
                  <a:srgbClr val="0000FF"/>
                </a:solidFill>
                <a:latin typeface="Calibri"/>
                <a:ea typeface="Calibri"/>
                <a:cs typeface="Calibri"/>
                <a:sym typeface="Calibri"/>
              </a:rPr>
              <a:t>WHY IS SATELLITE IMAGE SUPER -RESOLUTION IMPORTANT ?</a:t>
            </a:r>
            <a:endParaRPr sz="3700">
              <a:solidFill>
                <a:srgbClr val="0000FF"/>
              </a:solidFill>
              <a:latin typeface="Calibri"/>
              <a:ea typeface="Calibri"/>
              <a:cs typeface="Calibri"/>
              <a:sym typeface="Calibri"/>
            </a:endParaRPr>
          </a:p>
        </p:txBody>
      </p:sp>
      <p:sp>
        <p:nvSpPr>
          <p:cNvPr id="143" name="Google Shape;143;p26"/>
          <p:cNvSpPr txBox="1"/>
          <p:nvPr/>
        </p:nvSpPr>
        <p:spPr>
          <a:xfrm>
            <a:off x="253700" y="1552800"/>
            <a:ext cx="8739900" cy="3317400"/>
          </a:xfrm>
          <a:prstGeom prst="rect">
            <a:avLst/>
          </a:prstGeom>
          <a:noFill/>
          <a:ln>
            <a:noFill/>
          </a:ln>
        </p:spPr>
        <p:txBody>
          <a:bodyPr anchorCtr="0" anchor="t" bIns="91425" lIns="91425" spcFirstLastPara="1" rIns="91425" wrap="square" tIns="91425">
            <a:noAutofit/>
          </a:bodyPr>
          <a:lstStyle/>
          <a:p>
            <a:pPr indent="-336550" lvl="0" marL="457200" rtl="0" algn="just">
              <a:lnSpc>
                <a:spcPct val="100000"/>
              </a:lnSpc>
              <a:spcBef>
                <a:spcPts val="40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Satellite images are critical to a wide range of real-world applications, including agriculture monitoring, disaster management, environmental assessment, and urban planning. </a:t>
            </a:r>
            <a:endParaRPr sz="1700">
              <a:solidFill>
                <a:schemeClr val="dk1"/>
              </a:solidFill>
              <a:latin typeface="Calibri"/>
              <a:ea typeface="Calibri"/>
              <a:cs typeface="Calibri"/>
              <a:sym typeface="Calibri"/>
            </a:endParaRPr>
          </a:p>
          <a:p>
            <a:pPr indent="-336550" lvl="0" marL="457200" rtl="0" algn="just">
              <a:lnSpc>
                <a:spcPct val="100000"/>
              </a:lnSpc>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These images are acquired through remote sensing technology from satellites orbiting the Earth; however, they frequently suffer from low spatial resolution .</a:t>
            </a:r>
            <a:endParaRPr sz="1700">
              <a:solidFill>
                <a:schemeClr val="dk1"/>
              </a:solidFill>
              <a:latin typeface="Calibri"/>
              <a:ea typeface="Calibri"/>
              <a:cs typeface="Calibri"/>
              <a:sym typeface="Calibri"/>
            </a:endParaRPr>
          </a:p>
          <a:p>
            <a:pPr indent="-336550" lvl="0" marL="457200" rtl="0" algn="just">
              <a:lnSpc>
                <a:spcPct val="100000"/>
              </a:lnSpc>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To address this challenge, image super-resolution (SR) techniques are employed to enhance image quality. </a:t>
            </a:r>
            <a:endParaRPr sz="1700">
              <a:solidFill>
                <a:schemeClr val="dk1"/>
              </a:solidFill>
              <a:latin typeface="Calibri"/>
              <a:ea typeface="Calibri"/>
              <a:cs typeface="Calibri"/>
              <a:sym typeface="Calibri"/>
            </a:endParaRPr>
          </a:p>
          <a:p>
            <a:pPr indent="-336550" lvl="0" marL="457200" rtl="0" algn="just">
              <a:lnSpc>
                <a:spcPct val="100000"/>
              </a:lnSpc>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Classical methods such as bicubic and nearest-neighbour interpolation can increase image dimensions but fail to recover fine structural details.</a:t>
            </a:r>
            <a:endParaRPr sz="1700">
              <a:solidFill>
                <a:schemeClr val="dk1"/>
              </a:solidFill>
              <a:latin typeface="Calibri"/>
              <a:ea typeface="Calibri"/>
              <a:cs typeface="Calibri"/>
              <a:sym typeface="Calibri"/>
            </a:endParaRPr>
          </a:p>
          <a:p>
            <a:pPr indent="-336550" lvl="0" marL="457200" rtl="0" algn="just">
              <a:lnSpc>
                <a:spcPct val="100000"/>
              </a:lnSpc>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In recent years, deep learning-based SR models — particularly ESRGAN (Enhanced Super-Resolution Generative Adversarial Network) — have demonstrated substantially superior results by learning to synthesise high-frequency texture information from low-resolution (LR) inputs.</a:t>
            </a:r>
            <a:endParaRPr sz="1700">
              <a:solidFill>
                <a:schemeClr val="dk1"/>
              </a:solidFill>
              <a:latin typeface="Calibri"/>
              <a:ea typeface="Calibri"/>
              <a:cs typeface="Calibri"/>
              <a:sym typeface="Calibri"/>
            </a:endParaRPr>
          </a:p>
          <a:p>
            <a:pPr indent="0" lvl="0" marL="0" rtl="0" algn="just">
              <a:lnSpc>
                <a:spcPct val="100000"/>
              </a:lnSpc>
              <a:spcBef>
                <a:spcPts val="400"/>
              </a:spcBef>
              <a:spcAft>
                <a:spcPts val="400"/>
              </a:spcAft>
              <a:buNone/>
            </a:pPr>
            <a:r>
              <a:t/>
            </a:r>
            <a:endParaRPr sz="17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8FA"/>
        </a:solidFill>
      </p:bgPr>
    </p:bg>
    <p:spTree>
      <p:nvGrpSpPr>
        <p:cNvPr id="147" name="Shape 147"/>
        <p:cNvGrpSpPr/>
        <p:nvPr/>
      </p:nvGrpSpPr>
      <p:grpSpPr>
        <a:xfrm>
          <a:off x="0" y="0"/>
          <a:ext cx="0" cy="0"/>
          <a:chOff x="0" y="0"/>
          <a:chExt cx="0" cy="0"/>
        </a:xfrm>
      </p:grpSpPr>
      <p:sp>
        <p:nvSpPr>
          <p:cNvPr id="148" name="Google Shape;148;p27"/>
          <p:cNvSpPr/>
          <p:nvPr/>
        </p:nvSpPr>
        <p:spPr>
          <a:xfrm>
            <a:off x="333375" y="333375"/>
            <a:ext cx="2876550" cy="4040191"/>
          </a:xfrm>
          <a:custGeom>
            <a:rect b="b" l="l" r="r" t="t"/>
            <a:pathLst>
              <a:path extrusionOk="0" h="1251862" w="891306">
                <a:moveTo>
                  <a:pt x="0" y="0"/>
                </a:moveTo>
                <a:lnTo>
                  <a:pt x="891306" y="0"/>
                </a:lnTo>
                <a:lnTo>
                  <a:pt x="891306" y="1251862"/>
                </a:lnTo>
                <a:lnTo>
                  <a:pt x="0" y="1251862"/>
                </a:lnTo>
                <a:close/>
              </a:path>
            </a:pathLst>
          </a:custGeom>
          <a:blipFill rotWithShape="1">
            <a:blip r:embed="rId3">
              <a:alphaModFix/>
            </a:blip>
            <a:stretch>
              <a:fillRect b="-316" l="0" r="0" t="-316"/>
            </a:stretch>
          </a:blipFill>
          <a:ln cap="sq" cmpd="sng" w="19050">
            <a:solidFill>
              <a:srgbClr val="FFFFFF"/>
            </a:solidFill>
            <a:prstDash val="solid"/>
            <a:miter lim="8000"/>
            <a:headEnd len="sm" w="sm" type="none"/>
            <a:tailEnd len="sm" w="sm" type="none"/>
          </a:ln>
        </p:spPr>
      </p:sp>
      <p:grpSp>
        <p:nvGrpSpPr>
          <p:cNvPr id="149" name="Google Shape;149;p27"/>
          <p:cNvGrpSpPr/>
          <p:nvPr/>
        </p:nvGrpSpPr>
        <p:grpSpPr>
          <a:xfrm>
            <a:off x="3452490" y="335450"/>
            <a:ext cx="4881600" cy="4425915"/>
            <a:chOff x="0" y="76200"/>
            <a:chExt cx="13017600" cy="11802439"/>
          </a:xfrm>
        </p:grpSpPr>
        <p:sp>
          <p:nvSpPr>
            <p:cNvPr id="150" name="Google Shape;150;p27"/>
            <p:cNvSpPr txBox="1"/>
            <p:nvPr/>
          </p:nvSpPr>
          <p:spPr>
            <a:xfrm>
              <a:off x="0" y="76200"/>
              <a:ext cx="13017600" cy="3879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 sz="4500" u="none" cap="none" strike="noStrike">
                  <a:solidFill>
                    <a:srgbClr val="2A3E52"/>
                  </a:solidFill>
                  <a:latin typeface="Raleway"/>
                  <a:ea typeface="Raleway"/>
                  <a:cs typeface="Raleway"/>
                  <a:sym typeface="Raleway"/>
                </a:rPr>
                <a:t>Enhancing Satellite Imagery</a:t>
              </a:r>
              <a:endParaRPr sz="700"/>
            </a:p>
          </p:txBody>
        </p:sp>
        <p:sp>
          <p:nvSpPr>
            <p:cNvPr id="151" name="Google Shape;151;p27"/>
            <p:cNvSpPr txBox="1"/>
            <p:nvPr/>
          </p:nvSpPr>
          <p:spPr>
            <a:xfrm>
              <a:off x="0" y="3625814"/>
              <a:ext cx="13017600" cy="8065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 sz="1500" u="none" cap="none" strike="noStrike">
                  <a:solidFill>
                    <a:srgbClr val="2A3E52"/>
                  </a:solidFill>
                  <a:latin typeface="Raleway"/>
                  <a:ea typeface="Raleway"/>
                  <a:cs typeface="Raleway"/>
                  <a:sym typeface="Raleway"/>
                </a:rPr>
                <a:t>Satellite images are widely used in applications such as agriculture monitoring, disaster management, and urban planning. However, these images often suffer from low resolution due to sensor limitations and environmental factors.</a:t>
              </a:r>
              <a:endParaRPr sz="700"/>
            </a:p>
            <a:p>
              <a:pPr indent="0" lvl="0" marL="0" marR="0" rtl="0" algn="l">
                <a:lnSpc>
                  <a:spcPct val="110000"/>
                </a:lnSpc>
                <a:spcBef>
                  <a:spcPts val="0"/>
                </a:spcBef>
                <a:spcAft>
                  <a:spcPts val="0"/>
                </a:spcAft>
                <a:buNone/>
              </a:pPr>
              <a:r>
                <a:t/>
              </a:r>
              <a:endParaRPr b="0" i="0" sz="1500" u="none" cap="none" strike="noStrike">
                <a:solidFill>
                  <a:srgbClr val="2A3E52"/>
                </a:solidFill>
                <a:latin typeface="Raleway"/>
                <a:ea typeface="Raleway"/>
                <a:cs typeface="Raleway"/>
                <a:sym typeface="Raleway"/>
              </a:endParaRPr>
            </a:p>
            <a:p>
              <a:pPr indent="0" lvl="0" marL="0" marR="0" rtl="0" algn="l">
                <a:lnSpc>
                  <a:spcPct val="110000"/>
                </a:lnSpc>
                <a:spcBef>
                  <a:spcPts val="0"/>
                </a:spcBef>
                <a:spcAft>
                  <a:spcPts val="0"/>
                </a:spcAft>
                <a:buNone/>
              </a:pPr>
              <a:r>
                <a:rPr b="0" i="0" lang="en" sz="1500" u="none" cap="none" strike="noStrike">
                  <a:solidFill>
                    <a:srgbClr val="2A3E52"/>
                  </a:solidFill>
                  <a:latin typeface="Raleway"/>
                  <a:ea typeface="Raleway"/>
                  <a:cs typeface="Raleway"/>
                  <a:sym typeface="Raleway"/>
                </a:rPr>
                <a:t>This project aims to improve the quality of low resolution satellite images using deep learning based Single Image Super Resolution techniques. The system converts low resolution images into high resolution images while preserving image details.</a:t>
              </a:r>
              <a:endParaRPr sz="700"/>
            </a:p>
            <a:p>
              <a:pPr indent="0" lvl="0" marL="0" marR="0" rtl="0" algn="l">
                <a:lnSpc>
                  <a:spcPct val="110000"/>
                </a:lnSpc>
                <a:spcBef>
                  <a:spcPts val="0"/>
                </a:spcBef>
                <a:spcAft>
                  <a:spcPts val="0"/>
                </a:spcAft>
                <a:buNone/>
              </a:pPr>
              <a:r>
                <a:t/>
              </a:r>
              <a:endParaRPr b="0" i="0" sz="1500" u="none" cap="none" strike="noStrike">
                <a:solidFill>
                  <a:srgbClr val="2A3E52"/>
                </a:solidFill>
                <a:latin typeface="Raleway"/>
                <a:ea typeface="Raleway"/>
                <a:cs typeface="Raleway"/>
                <a:sym typeface="Raleway"/>
              </a:endParaRPr>
            </a:p>
          </p:txBody>
        </p:sp>
        <p:sp>
          <p:nvSpPr>
            <p:cNvPr id="152" name="Google Shape;152;p27"/>
            <p:cNvSpPr txBox="1"/>
            <p:nvPr/>
          </p:nvSpPr>
          <p:spPr>
            <a:xfrm>
              <a:off x="0" y="11509339"/>
              <a:ext cx="13017600" cy="369300"/>
            </a:xfrm>
            <a:prstGeom prst="rect">
              <a:avLst/>
            </a:prstGeom>
            <a:noFill/>
            <a:ln>
              <a:noFill/>
            </a:ln>
          </p:spPr>
          <p:txBody>
            <a:bodyPr anchorCtr="0" anchor="t" bIns="0" lIns="0" spcFirstLastPara="1" rIns="0" wrap="square" tIns="0">
              <a:spAutoFit/>
            </a:bodyPr>
            <a:lstStyle/>
            <a:p>
              <a:pPr indent="0" lvl="0" marL="0" marR="0" rtl="0" algn="l">
                <a:lnSpc>
                  <a:spcPct val="171111"/>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cxnSp>
        <p:nvCxnSpPr>
          <p:cNvPr id="153" name="Google Shape;153;p27"/>
          <p:cNvCxnSpPr/>
          <p:nvPr/>
        </p:nvCxnSpPr>
        <p:spPr>
          <a:xfrm>
            <a:off x="715852" y="4805363"/>
            <a:ext cx="7812231" cy="0"/>
          </a:xfrm>
          <a:prstGeom prst="straightConnector1">
            <a:avLst/>
          </a:prstGeom>
          <a:noFill/>
          <a:ln cap="flat" cmpd="sng" w="19050">
            <a:solidFill>
              <a:srgbClr val="2A3E52"/>
            </a:solidFill>
            <a:prstDash val="solid"/>
            <a:round/>
            <a:headEnd len="sm" w="sm" type="none"/>
            <a:tailEnd len="sm" w="sm" type="none"/>
          </a:ln>
        </p:spPr>
      </p:cxnSp>
      <p:sp>
        <p:nvSpPr>
          <p:cNvPr id="154" name="Google Shape;154;p27"/>
          <p:cNvSpPr/>
          <p:nvPr/>
        </p:nvSpPr>
        <p:spPr>
          <a:xfrm>
            <a:off x="335756" y="4693942"/>
            <a:ext cx="222841" cy="222841"/>
          </a:xfrm>
          <a:custGeom>
            <a:rect b="b" l="l" r="r" t="t"/>
            <a:pathLst>
              <a:path extrusionOk="0" h="445682" w="445682">
                <a:moveTo>
                  <a:pt x="0" y="0"/>
                </a:moveTo>
                <a:lnTo>
                  <a:pt x="445683" y="0"/>
                </a:lnTo>
                <a:lnTo>
                  <a:pt x="445683" y="445682"/>
                </a:lnTo>
                <a:lnTo>
                  <a:pt x="0" y="44568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3A4A"/>
        </a:solidFill>
      </p:bgPr>
    </p:bg>
    <p:spTree>
      <p:nvGrpSpPr>
        <p:cNvPr id="158" name="Shape 158"/>
        <p:cNvGrpSpPr/>
        <p:nvPr/>
      </p:nvGrpSpPr>
      <p:grpSpPr>
        <a:xfrm>
          <a:off x="0" y="0"/>
          <a:ext cx="0" cy="0"/>
          <a:chOff x="0" y="0"/>
          <a:chExt cx="0" cy="0"/>
        </a:xfrm>
      </p:grpSpPr>
      <p:grpSp>
        <p:nvGrpSpPr>
          <p:cNvPr id="159" name="Google Shape;159;p28"/>
          <p:cNvGrpSpPr/>
          <p:nvPr/>
        </p:nvGrpSpPr>
        <p:grpSpPr>
          <a:xfrm>
            <a:off x="333375" y="361949"/>
            <a:ext cx="3443288" cy="5148751"/>
            <a:chOff x="0" y="76202"/>
            <a:chExt cx="9182100" cy="16814992"/>
          </a:xfrm>
        </p:grpSpPr>
        <p:sp>
          <p:nvSpPr>
            <p:cNvPr id="160" name="Google Shape;160;p28"/>
            <p:cNvSpPr txBox="1"/>
            <p:nvPr/>
          </p:nvSpPr>
          <p:spPr>
            <a:xfrm>
              <a:off x="0" y="76202"/>
              <a:ext cx="9182100" cy="6107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 sz="4500" u="none" cap="none" strike="noStrike">
                  <a:solidFill>
                    <a:srgbClr val="C1D4E9"/>
                  </a:solidFill>
                  <a:latin typeface="Arial"/>
                  <a:ea typeface="Arial"/>
                  <a:cs typeface="Arial"/>
                  <a:sym typeface="Arial"/>
                </a:rPr>
                <a:t>Challenges in Satellite Imaging</a:t>
              </a:r>
              <a:endParaRPr sz="700"/>
            </a:p>
          </p:txBody>
        </p:sp>
        <p:sp>
          <p:nvSpPr>
            <p:cNvPr id="161" name="Google Shape;161;p28"/>
            <p:cNvSpPr txBox="1"/>
            <p:nvPr/>
          </p:nvSpPr>
          <p:spPr>
            <a:xfrm>
              <a:off x="0" y="13312692"/>
              <a:ext cx="9182100" cy="452400"/>
            </a:xfrm>
            <a:prstGeom prst="rect">
              <a:avLst/>
            </a:prstGeom>
            <a:noFill/>
            <a:ln>
              <a:noFill/>
            </a:ln>
          </p:spPr>
          <p:txBody>
            <a:bodyPr anchorCtr="0" anchor="t" bIns="0" lIns="0" spcFirstLastPara="1" rIns="0" wrap="square" tIns="0">
              <a:spAutoFit/>
            </a:bodyPr>
            <a:lstStyle/>
            <a:p>
              <a:pPr indent="0" lvl="0" marL="0" marR="0" rtl="0" algn="l">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sp>
          <p:nvSpPr>
            <p:cNvPr id="162" name="Google Shape;162;p28"/>
            <p:cNvSpPr txBox="1"/>
            <p:nvPr/>
          </p:nvSpPr>
          <p:spPr>
            <a:xfrm>
              <a:off x="0" y="6183894"/>
              <a:ext cx="9182100" cy="10707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500" u="none" cap="none" strike="noStrike">
                  <a:solidFill>
                    <a:srgbClr val="C1D4E9"/>
                  </a:solidFill>
                  <a:latin typeface="Arial"/>
                  <a:ea typeface="Arial"/>
                  <a:cs typeface="Arial"/>
                  <a:sym typeface="Arial"/>
                </a:rPr>
                <a:t>Satellite images captured from remote sensing devices often have low resolution due to hardware limitations, noise, and atmospheric disturbances.</a:t>
              </a:r>
              <a:endParaRPr sz="700"/>
            </a:p>
            <a:p>
              <a:pPr indent="0" lvl="0" marL="0" marR="0" rtl="0" algn="l">
                <a:lnSpc>
                  <a:spcPct val="120000"/>
                </a:lnSpc>
                <a:spcBef>
                  <a:spcPts val="0"/>
                </a:spcBef>
                <a:spcAft>
                  <a:spcPts val="0"/>
                </a:spcAft>
                <a:buNone/>
              </a:pPr>
              <a:r>
                <a:rPr b="0" i="0" lang="en" sz="1500" u="none" cap="none" strike="noStrike">
                  <a:solidFill>
                    <a:srgbClr val="C1D4E9"/>
                  </a:solidFill>
                  <a:latin typeface="Arial"/>
                  <a:ea typeface="Arial"/>
                  <a:cs typeface="Arial"/>
                  <a:sym typeface="Arial"/>
                </a:rPr>
                <a:t>Low resolution images lack important visual details and reduce accuracy in applications such as object detection and land analysis.</a:t>
              </a:r>
              <a:endParaRPr sz="700"/>
            </a:p>
            <a:p>
              <a:pPr indent="0" lvl="0" marL="0" marR="0" rtl="0" algn="l">
                <a:lnSpc>
                  <a:spcPct val="120000"/>
                </a:lnSpc>
                <a:spcBef>
                  <a:spcPts val="0"/>
                </a:spcBef>
                <a:spcAft>
                  <a:spcPts val="0"/>
                </a:spcAft>
                <a:buNone/>
              </a:pPr>
              <a:r>
                <a:rPr b="0" i="0" lang="en" sz="1500" u="none" cap="none" strike="noStrike">
                  <a:solidFill>
                    <a:srgbClr val="C1D4E9"/>
                  </a:solidFill>
                  <a:latin typeface="Arial"/>
                  <a:ea typeface="Arial"/>
                  <a:cs typeface="Arial"/>
                  <a:sym typeface="Arial"/>
                </a:rPr>
                <a:t>Therefore, there is a need for techniques that can enhance satellite image resolution and improve image quality.</a:t>
              </a:r>
              <a:endParaRPr sz="700"/>
            </a:p>
            <a:p>
              <a:pPr indent="0" lvl="0" marL="0" marR="0" rtl="0" algn="l">
                <a:lnSpc>
                  <a:spcPct val="120000"/>
                </a:lnSpc>
                <a:spcBef>
                  <a:spcPts val="0"/>
                </a:spcBef>
                <a:spcAft>
                  <a:spcPts val="0"/>
                </a:spcAft>
                <a:buNone/>
              </a:pPr>
              <a:r>
                <a:t/>
              </a:r>
              <a:endParaRPr b="0" i="0" sz="1500" u="none" cap="none" strike="noStrike">
                <a:solidFill>
                  <a:srgbClr val="C1D4E9"/>
                </a:solidFill>
                <a:latin typeface="Arial"/>
                <a:ea typeface="Arial"/>
                <a:cs typeface="Arial"/>
                <a:sym typeface="Arial"/>
              </a:endParaRPr>
            </a:p>
          </p:txBody>
        </p:sp>
      </p:grpSp>
      <p:sp>
        <p:nvSpPr>
          <p:cNvPr id="163" name="Google Shape;163;p28"/>
          <p:cNvSpPr/>
          <p:nvPr/>
        </p:nvSpPr>
        <p:spPr>
          <a:xfrm>
            <a:off x="4441180" y="57150"/>
            <a:ext cx="4721255" cy="3761110"/>
          </a:xfrm>
          <a:custGeom>
            <a:rect b="b" l="l" r="r" t="t"/>
            <a:pathLst>
              <a:path extrusionOk="0" h="2825296" w="3546545">
                <a:moveTo>
                  <a:pt x="3522299" y="155341"/>
                </a:moveTo>
                <a:lnTo>
                  <a:pt x="3411722" y="31728"/>
                </a:lnTo>
                <a:cubicBezTo>
                  <a:pt x="3393661" y="11539"/>
                  <a:pt x="3367855" y="0"/>
                  <a:pt x="3340767" y="0"/>
                </a:cubicBezTo>
                <a:lnTo>
                  <a:pt x="205781" y="10"/>
                </a:lnTo>
                <a:cubicBezTo>
                  <a:pt x="178693" y="10"/>
                  <a:pt x="152888" y="11550"/>
                  <a:pt x="134828" y="31739"/>
                </a:cubicBezTo>
                <a:lnTo>
                  <a:pt x="24247" y="155355"/>
                </a:lnTo>
                <a:cubicBezTo>
                  <a:pt x="8634" y="172808"/>
                  <a:pt x="1" y="195404"/>
                  <a:pt x="0" y="218821"/>
                </a:cubicBezTo>
                <a:lnTo>
                  <a:pt x="0" y="2606484"/>
                </a:lnTo>
                <a:cubicBezTo>
                  <a:pt x="0" y="2629903"/>
                  <a:pt x="8633" y="2652501"/>
                  <a:pt x="24247" y="2669956"/>
                </a:cubicBezTo>
                <a:lnTo>
                  <a:pt x="134824" y="2793567"/>
                </a:lnTo>
                <a:cubicBezTo>
                  <a:pt x="152885" y="2813756"/>
                  <a:pt x="178690" y="2825296"/>
                  <a:pt x="205778" y="2825296"/>
                </a:cubicBezTo>
                <a:lnTo>
                  <a:pt x="3340764" y="2825287"/>
                </a:lnTo>
                <a:cubicBezTo>
                  <a:pt x="3367852" y="2825287"/>
                  <a:pt x="3393657" y="2813747"/>
                  <a:pt x="3411717" y="2793558"/>
                </a:cubicBezTo>
                <a:lnTo>
                  <a:pt x="3522298" y="2669943"/>
                </a:lnTo>
                <a:cubicBezTo>
                  <a:pt x="3537912" y="2652488"/>
                  <a:pt x="3546545" y="2629890"/>
                  <a:pt x="3546545" y="2606471"/>
                </a:cubicBezTo>
                <a:lnTo>
                  <a:pt x="3546545" y="218812"/>
                </a:lnTo>
                <a:cubicBezTo>
                  <a:pt x="3546545" y="195393"/>
                  <a:pt x="3537913" y="172796"/>
                  <a:pt x="3522299" y="155341"/>
                </a:cubicBezTo>
                <a:close/>
              </a:path>
            </a:pathLst>
          </a:custGeom>
          <a:blipFill rotWithShape="1">
            <a:blip r:embed="rId3">
              <a:alphaModFix/>
            </a:blip>
            <a:stretch>
              <a:fillRect b="0" l="-579" r="-579"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29" title="REVIEW.jpg"/>
          <p:cNvPicPr preferRelativeResize="0"/>
          <p:nvPr/>
        </p:nvPicPr>
        <p:blipFill>
          <a:blip r:embed="rId3">
            <a:alphaModFix/>
          </a:blip>
          <a:stretch>
            <a:fillRect/>
          </a:stretch>
        </p:blipFill>
        <p:spPr>
          <a:xfrm>
            <a:off x="152400" y="152400"/>
            <a:ext cx="8602133"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3"/>
        </a:solidFill>
      </p:bgPr>
    </p:bg>
    <p:spTree>
      <p:nvGrpSpPr>
        <p:cNvPr id="172" name="Shape 172"/>
        <p:cNvGrpSpPr/>
        <p:nvPr/>
      </p:nvGrpSpPr>
      <p:grpSpPr>
        <a:xfrm>
          <a:off x="0" y="0"/>
          <a:ext cx="0" cy="0"/>
          <a:chOff x="0" y="0"/>
          <a:chExt cx="0" cy="0"/>
        </a:xfrm>
      </p:grpSpPr>
      <p:grpSp>
        <p:nvGrpSpPr>
          <p:cNvPr id="173" name="Google Shape;173;p30"/>
          <p:cNvGrpSpPr/>
          <p:nvPr/>
        </p:nvGrpSpPr>
        <p:grpSpPr>
          <a:xfrm>
            <a:off x="4648200" y="-108496"/>
            <a:ext cx="4495800" cy="1784896"/>
            <a:chOff x="0" y="-57150"/>
            <a:chExt cx="2368158" cy="940192"/>
          </a:xfrm>
        </p:grpSpPr>
        <p:sp>
          <p:nvSpPr>
            <p:cNvPr id="174" name="Google Shape;174;p30"/>
            <p:cNvSpPr/>
            <p:nvPr/>
          </p:nvSpPr>
          <p:spPr>
            <a:xfrm>
              <a:off x="0" y="0"/>
              <a:ext cx="2368158" cy="883042"/>
            </a:xfrm>
            <a:custGeom>
              <a:rect b="b" l="l" r="r" t="t"/>
              <a:pathLst>
                <a:path extrusionOk="0" h="883042" w="2368158">
                  <a:moveTo>
                    <a:pt x="0" y="0"/>
                  </a:moveTo>
                  <a:lnTo>
                    <a:pt x="2368158" y="0"/>
                  </a:lnTo>
                  <a:lnTo>
                    <a:pt x="2368158" y="883042"/>
                  </a:lnTo>
                  <a:lnTo>
                    <a:pt x="0" y="883042"/>
                  </a:lnTo>
                  <a:close/>
                </a:path>
              </a:pathLst>
            </a:custGeom>
            <a:solidFill>
              <a:srgbClr val="F7F6F3"/>
            </a:solidFill>
            <a:ln>
              <a:noFill/>
            </a:ln>
          </p:spPr>
        </p:sp>
        <p:sp>
          <p:nvSpPr>
            <p:cNvPr id="175" name="Google Shape;175;p30"/>
            <p:cNvSpPr txBox="1"/>
            <p:nvPr/>
          </p:nvSpPr>
          <p:spPr>
            <a:xfrm>
              <a:off x="0" y="-57150"/>
              <a:ext cx="2368158" cy="940192"/>
            </a:xfrm>
            <a:prstGeom prst="rect">
              <a:avLst/>
            </a:prstGeom>
            <a:noFill/>
            <a:ln>
              <a:noFill/>
            </a:ln>
          </p:spPr>
          <p:txBody>
            <a:bodyPr anchorCtr="0" anchor="ctr" bIns="25400" lIns="25400" spcFirstLastPara="1" rIns="25400" wrap="square" tIns="25400">
              <a:noAutofit/>
            </a:bodyPr>
            <a:lstStyle/>
            <a:p>
              <a:pPr indent="0" lvl="0" marL="0" marR="0" rtl="0" algn="ctr">
                <a:lnSpc>
                  <a:spcPct val="155555"/>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76" name="Google Shape;176;p30"/>
          <p:cNvSpPr txBox="1"/>
          <p:nvPr/>
        </p:nvSpPr>
        <p:spPr>
          <a:xfrm>
            <a:off x="97275" y="0"/>
            <a:ext cx="56763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3000" u="none" cap="none" strike="noStrike">
                <a:solidFill>
                  <a:srgbClr val="4D4D4D"/>
                </a:solidFill>
                <a:latin typeface="Geo"/>
                <a:ea typeface="Geo"/>
                <a:cs typeface="Geo"/>
                <a:sym typeface="Geo"/>
              </a:rPr>
              <a:t>LITERATURE OVERVIEW</a:t>
            </a:r>
            <a:endParaRPr sz="700"/>
          </a:p>
        </p:txBody>
      </p:sp>
      <p:sp>
        <p:nvSpPr>
          <p:cNvPr id="177" name="Google Shape;177;p30"/>
          <p:cNvSpPr txBox="1"/>
          <p:nvPr/>
        </p:nvSpPr>
        <p:spPr>
          <a:xfrm>
            <a:off x="97263" y="769938"/>
            <a:ext cx="5908200" cy="184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t/>
            </a:r>
            <a:endParaRPr b="0" i="0" sz="1200" u="none" cap="none" strike="noStrike">
              <a:solidFill>
                <a:srgbClr val="4D4D4D"/>
              </a:solidFill>
              <a:latin typeface="Helvetica Neue"/>
              <a:ea typeface="Helvetica Neue"/>
              <a:cs typeface="Helvetica Neue"/>
              <a:sym typeface="Helvetica Neue"/>
            </a:endParaRPr>
          </a:p>
        </p:txBody>
      </p:sp>
      <p:sp>
        <p:nvSpPr>
          <p:cNvPr id="178" name="Google Shape;178;p30"/>
          <p:cNvSpPr txBox="1"/>
          <p:nvPr/>
        </p:nvSpPr>
        <p:spPr>
          <a:xfrm>
            <a:off x="97275" y="923400"/>
            <a:ext cx="616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graphicFrame>
        <p:nvGraphicFramePr>
          <p:cNvPr id="179" name="Google Shape;179;p30"/>
          <p:cNvGraphicFramePr/>
          <p:nvPr/>
        </p:nvGraphicFramePr>
        <p:xfrm>
          <a:off x="97300" y="-247425"/>
          <a:ext cx="3000000" cy="3000000"/>
        </p:xfrm>
        <a:graphic>
          <a:graphicData uri="http://schemas.openxmlformats.org/drawingml/2006/table">
            <a:tbl>
              <a:tblPr>
                <a:noFill/>
                <a:tableStyleId>{25E40760-9282-409B-B321-31BF8F4823D4}</a:tableStyleId>
              </a:tblPr>
              <a:tblGrid>
                <a:gridCol w="1502500"/>
                <a:gridCol w="1777000"/>
                <a:gridCol w="1719225"/>
                <a:gridCol w="2542700"/>
                <a:gridCol w="1505300"/>
              </a:tblGrid>
              <a:tr h="626750">
                <a:tc>
                  <a:txBody>
                    <a:bodyPr/>
                    <a:lstStyle/>
                    <a:p>
                      <a:pPr indent="0" lvl="0" marL="0" rtl="0" algn="l">
                        <a:lnSpc>
                          <a:spcPct val="115000"/>
                        </a:lnSpc>
                        <a:spcBef>
                          <a:spcPts val="1200"/>
                        </a:spcBef>
                        <a:spcAft>
                          <a:spcPts val="1200"/>
                        </a:spcAft>
                        <a:buNone/>
                      </a:pPr>
                      <a:r>
                        <a:rPr b="1" lang="en" sz="1000"/>
                        <a:t>Authors / Source</a:t>
                      </a:r>
                      <a:endParaRPr b="1"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D3D3D3"/>
                    </a:solidFill>
                  </a:tcPr>
                </a:tc>
                <a:tc>
                  <a:txBody>
                    <a:bodyPr/>
                    <a:lstStyle/>
                    <a:p>
                      <a:pPr indent="0" lvl="0" marL="0" rtl="0" algn="l">
                        <a:lnSpc>
                          <a:spcPct val="115000"/>
                        </a:lnSpc>
                        <a:spcBef>
                          <a:spcPts val="1200"/>
                        </a:spcBef>
                        <a:spcAft>
                          <a:spcPts val="1200"/>
                        </a:spcAft>
                        <a:buNone/>
                      </a:pPr>
                      <a:r>
                        <a:rPr b="1" lang="en" sz="1000"/>
                        <a:t>Approach Used</a:t>
                      </a:r>
                      <a:endParaRPr b="1"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D3D3D3"/>
                    </a:solidFill>
                  </a:tcPr>
                </a:tc>
                <a:tc>
                  <a:txBody>
                    <a:bodyPr/>
                    <a:lstStyle/>
                    <a:p>
                      <a:pPr indent="0" lvl="0" marL="0" rtl="0" algn="l">
                        <a:lnSpc>
                          <a:spcPct val="115000"/>
                        </a:lnSpc>
                        <a:spcBef>
                          <a:spcPts val="1200"/>
                        </a:spcBef>
                        <a:spcAft>
                          <a:spcPts val="1200"/>
                        </a:spcAft>
                        <a:buNone/>
                      </a:pPr>
                      <a:r>
                        <a:rPr b="1" lang="en" sz="1000"/>
                        <a:t>Data / Context</a:t>
                      </a:r>
                      <a:endParaRPr b="1"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D3D3D3"/>
                    </a:solidFill>
                  </a:tcPr>
                </a:tc>
                <a:tc>
                  <a:txBody>
                    <a:bodyPr/>
                    <a:lstStyle/>
                    <a:p>
                      <a:pPr indent="0" lvl="0" marL="0" rtl="0" algn="l">
                        <a:lnSpc>
                          <a:spcPct val="115000"/>
                        </a:lnSpc>
                        <a:spcBef>
                          <a:spcPts val="1200"/>
                        </a:spcBef>
                        <a:spcAft>
                          <a:spcPts val="1200"/>
                        </a:spcAft>
                        <a:buNone/>
                      </a:pPr>
                      <a:r>
                        <a:rPr b="1" lang="en" sz="1000"/>
                        <a:t>Main Findings</a:t>
                      </a:r>
                      <a:endParaRPr b="1"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D3D3D3"/>
                    </a:solidFill>
                  </a:tcPr>
                </a:tc>
                <a:tc>
                  <a:txBody>
                    <a:bodyPr/>
                    <a:lstStyle/>
                    <a:p>
                      <a:pPr indent="0" lvl="0" marL="0" rtl="0" algn="l">
                        <a:lnSpc>
                          <a:spcPct val="115000"/>
                        </a:lnSpc>
                        <a:spcBef>
                          <a:spcPts val="1200"/>
                        </a:spcBef>
                        <a:spcAft>
                          <a:spcPts val="1200"/>
                        </a:spcAft>
                        <a:buNone/>
                      </a:pPr>
                      <a:r>
                        <a:rPr b="1" lang="en" sz="1000"/>
                        <a:t>Limitation</a:t>
                      </a:r>
                      <a:endParaRPr b="1"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D3D3D3"/>
                    </a:solidFill>
                  </a:tcPr>
                </a:tc>
              </a:tr>
              <a:tr h="1115875">
                <a:tc>
                  <a:txBody>
                    <a:bodyPr/>
                    <a:lstStyle/>
                    <a:p>
                      <a:pPr indent="0" lvl="0" marL="0" rtl="0" algn="l">
                        <a:lnSpc>
                          <a:spcPct val="115000"/>
                        </a:lnSpc>
                        <a:spcBef>
                          <a:spcPts val="1200"/>
                        </a:spcBef>
                        <a:spcAft>
                          <a:spcPts val="1200"/>
                        </a:spcAft>
                        <a:buNone/>
                      </a:pPr>
                      <a:r>
                        <a:rPr lang="en" sz="1000"/>
                        <a:t>Traditional Methods</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Nearest Neighbor and Bicubic Interpolation</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General image upscaling</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Baseline methods for increasing resolution; nearest neighbor is fast while bicubic produces smoother images</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Cannot recover fine details; results in blocky or blurry outputs</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952825">
                <a:tc>
                  <a:txBody>
                    <a:bodyPr/>
                    <a:lstStyle/>
                    <a:p>
                      <a:pPr indent="0" lvl="0" marL="0" rtl="0" algn="l">
                        <a:lnSpc>
                          <a:spcPct val="115000"/>
                        </a:lnSpc>
                        <a:spcBef>
                          <a:spcPts val="1200"/>
                        </a:spcBef>
                        <a:spcAft>
                          <a:spcPts val="1200"/>
                        </a:spcAft>
                        <a:buNone/>
                      </a:pPr>
                      <a:r>
                        <a:rPr lang="en" sz="1000"/>
                        <a:t>European Geosciences Union (EGU)</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Remote sensing analysis</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Satellite environmental data</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Highlights challenges such as low resolution, atmospheric disturbances, and sensor limitations</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Does not propose a direct enhancement technique</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952825">
                <a:tc>
                  <a:txBody>
                    <a:bodyPr/>
                    <a:lstStyle/>
                    <a:p>
                      <a:pPr indent="0" lvl="0" marL="0" rtl="0" algn="l">
                        <a:lnSpc>
                          <a:spcPct val="115000"/>
                        </a:lnSpc>
                        <a:spcBef>
                          <a:spcPts val="1200"/>
                        </a:spcBef>
                        <a:spcAft>
                          <a:spcPts val="1200"/>
                        </a:spcAft>
                        <a:buNone/>
                      </a:pPr>
                      <a:r>
                        <a:rPr lang="en" sz="1000"/>
                        <a:t>European Geosciences Union (EGU)</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Multi-satellite fusion with deep learning</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Multi-source satellite datasets</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Combines multiple satellites to improve spatial and temporal resolution and handle missing data</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Requires large datasets</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789800">
                <a:tc>
                  <a:txBody>
                    <a:bodyPr/>
                    <a:lstStyle/>
                    <a:p>
                      <a:pPr indent="0" lvl="0" marL="0" rtl="0" algn="l">
                        <a:lnSpc>
                          <a:spcPct val="115000"/>
                        </a:lnSpc>
                        <a:spcBef>
                          <a:spcPts val="1200"/>
                        </a:spcBef>
                        <a:spcAft>
                          <a:spcPts val="1200"/>
                        </a:spcAft>
                        <a:buNone/>
                      </a:pPr>
                      <a:r>
                        <a:rPr lang="en" sz="1000"/>
                        <a:t>Im and Lee</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Super-resolution with deep feature matching</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Multi-sensor satellite images</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Improves edge detection and image registration accuracy</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Computationally intensive</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952825">
                <a:tc>
                  <a:txBody>
                    <a:bodyPr/>
                    <a:lstStyle/>
                    <a:p>
                      <a:pPr indent="0" lvl="0" marL="0" rtl="0" algn="l">
                        <a:lnSpc>
                          <a:spcPct val="115000"/>
                        </a:lnSpc>
                        <a:spcBef>
                          <a:spcPts val="1200"/>
                        </a:spcBef>
                        <a:spcAft>
                          <a:spcPts val="1200"/>
                        </a:spcAft>
                        <a:buNone/>
                      </a:pPr>
                      <a:r>
                        <a:rPr lang="en" sz="1000"/>
                        <a:t>Zheng et al.</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Self-supervised super-resolution with uncertainty estimation</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SkySat dataset</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Generates high-resolution images without ground truth and estimates uncertainty</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000"/>
                        <a:t>Requires careful tuning</a:t>
                      </a:r>
                      <a:endParaRPr sz="1000"/>
                    </a:p>
                  </a:txBody>
                  <a:tcPr marT="91425" marB="91425" marR="68575" marL="6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63B"/>
        </a:solidFill>
      </p:bgPr>
    </p:bg>
    <p:spTree>
      <p:nvGrpSpPr>
        <p:cNvPr id="183" name="Shape 183"/>
        <p:cNvGrpSpPr/>
        <p:nvPr/>
      </p:nvGrpSpPr>
      <p:grpSpPr>
        <a:xfrm>
          <a:off x="0" y="0"/>
          <a:ext cx="0" cy="0"/>
          <a:chOff x="0" y="0"/>
          <a:chExt cx="0" cy="0"/>
        </a:xfrm>
      </p:grpSpPr>
      <p:sp>
        <p:nvSpPr>
          <p:cNvPr id="184" name="Google Shape;184;p31"/>
          <p:cNvSpPr/>
          <p:nvPr/>
        </p:nvSpPr>
        <p:spPr>
          <a:xfrm>
            <a:off x="3929063" y="0"/>
            <a:ext cx="5214938" cy="5143500"/>
          </a:xfrm>
          <a:custGeom>
            <a:rect b="b" l="l" r="r" t="t"/>
            <a:pathLst>
              <a:path extrusionOk="0" h="1184737" w="1201192">
                <a:moveTo>
                  <a:pt x="0" y="0"/>
                </a:moveTo>
                <a:lnTo>
                  <a:pt x="1201192" y="0"/>
                </a:lnTo>
                <a:lnTo>
                  <a:pt x="1201192" y="1184737"/>
                </a:lnTo>
                <a:lnTo>
                  <a:pt x="0" y="1184737"/>
                </a:lnTo>
                <a:close/>
              </a:path>
            </a:pathLst>
          </a:custGeom>
          <a:blipFill rotWithShape="1">
            <a:blip r:embed="rId3">
              <a:alphaModFix/>
            </a:blip>
            <a:stretch>
              <a:fillRect b="0" l="-1" r="-1" t="0"/>
            </a:stretch>
          </a:blipFill>
          <a:ln>
            <a:noFill/>
          </a:ln>
        </p:spPr>
      </p:sp>
      <p:grpSp>
        <p:nvGrpSpPr>
          <p:cNvPr id="185" name="Google Shape;185;p31"/>
          <p:cNvGrpSpPr/>
          <p:nvPr/>
        </p:nvGrpSpPr>
        <p:grpSpPr>
          <a:xfrm>
            <a:off x="333375" y="397669"/>
            <a:ext cx="2724188" cy="5028150"/>
            <a:chOff x="0" y="171450"/>
            <a:chExt cx="7264500" cy="13408400"/>
          </a:xfrm>
        </p:grpSpPr>
        <p:sp>
          <p:nvSpPr>
            <p:cNvPr id="186" name="Google Shape;186;p31"/>
            <p:cNvSpPr txBox="1"/>
            <p:nvPr/>
          </p:nvSpPr>
          <p:spPr>
            <a:xfrm>
              <a:off x="0" y="171450"/>
              <a:ext cx="7264400" cy="442171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4200" u="none" cap="none" strike="noStrike">
                  <a:solidFill>
                    <a:srgbClr val="FFFFFF"/>
                  </a:solidFill>
                  <a:latin typeface="Proxima Nova"/>
                  <a:ea typeface="Proxima Nova"/>
                  <a:cs typeface="Proxima Nova"/>
                  <a:sym typeface="Proxima Nova"/>
                </a:rPr>
                <a:t>Satellite Image Datasets</a:t>
              </a:r>
              <a:endParaRPr sz="700"/>
            </a:p>
          </p:txBody>
        </p:sp>
        <p:sp>
          <p:nvSpPr>
            <p:cNvPr id="187" name="Google Shape;187;p31"/>
            <p:cNvSpPr txBox="1"/>
            <p:nvPr/>
          </p:nvSpPr>
          <p:spPr>
            <a:xfrm>
              <a:off x="0" y="4959350"/>
              <a:ext cx="7264500" cy="862050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0" i="0" lang="en" sz="1400" u="none" cap="none" strike="noStrike">
                  <a:solidFill>
                    <a:srgbClr val="FFFFFF"/>
                  </a:solidFill>
                  <a:latin typeface="Arial"/>
                  <a:ea typeface="Arial"/>
                  <a:cs typeface="Arial"/>
                  <a:sym typeface="Arial"/>
                </a:rPr>
                <a:t>The dataset used in this project is the </a:t>
              </a:r>
              <a:r>
                <a:rPr lang="en">
                  <a:solidFill>
                    <a:srgbClr val="FFFFFF"/>
                  </a:solidFill>
                </a:rPr>
                <a:t>/kaggle/input/satellite-nc-x10-dataset. </a:t>
              </a:r>
              <a:r>
                <a:rPr b="0" i="0" lang="en" sz="1400" u="none" cap="none" strike="noStrike">
                  <a:solidFill>
                    <a:srgbClr val="FFFFFF"/>
                  </a:solidFill>
                  <a:latin typeface="Arial"/>
                  <a:ea typeface="Arial"/>
                  <a:cs typeface="Arial"/>
                  <a:sym typeface="Arial"/>
                </a:rPr>
                <a:t>It contains paired low resolution and high resolution satellite images used for training and testing the super resolution model. The dataset helps the model learn mapping between low quality and high quality images.</a:t>
              </a:r>
              <a:endParaRPr sz="700"/>
            </a:p>
            <a:p>
              <a:pPr indent="0" lvl="0" marL="0" marR="0" rtl="0" algn="l">
                <a:lnSpc>
                  <a:spcPct val="140014"/>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grpSp>
        <p:nvGrpSpPr>
          <p:cNvPr id="192" name="Google Shape;192;p32"/>
          <p:cNvGrpSpPr/>
          <p:nvPr/>
        </p:nvGrpSpPr>
        <p:grpSpPr>
          <a:xfrm>
            <a:off x="3265017" y="333375"/>
            <a:ext cx="4881609" cy="3285313"/>
            <a:chOff x="0" y="0"/>
            <a:chExt cx="13017623" cy="8760835"/>
          </a:xfrm>
        </p:grpSpPr>
        <p:sp>
          <p:nvSpPr>
            <p:cNvPr id="193" name="Google Shape;193;p32"/>
            <p:cNvSpPr txBox="1"/>
            <p:nvPr/>
          </p:nvSpPr>
          <p:spPr>
            <a:xfrm>
              <a:off x="0" y="0"/>
              <a:ext cx="13017500" cy="5588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1" i="0" lang="en" sz="1400" u="none" cap="none" strike="noStrike">
                  <a:solidFill>
                    <a:srgbClr val="0066CC"/>
                  </a:solidFill>
                  <a:latin typeface="Arial"/>
                  <a:ea typeface="Arial"/>
                  <a:cs typeface="Arial"/>
                  <a:sym typeface="Arial"/>
                </a:rPr>
                <a:t>Methodological Issues</a:t>
              </a:r>
              <a:endParaRPr sz="700"/>
            </a:p>
          </p:txBody>
        </p:sp>
        <p:sp>
          <p:nvSpPr>
            <p:cNvPr id="194" name="Google Shape;194;p32"/>
            <p:cNvSpPr txBox="1"/>
            <p:nvPr/>
          </p:nvSpPr>
          <p:spPr>
            <a:xfrm>
              <a:off x="23" y="1183135"/>
              <a:ext cx="13017600" cy="75777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0" i="0" lang="en" sz="1300" u="none" cap="none" strike="noStrike">
                  <a:solidFill>
                    <a:srgbClr val="333333"/>
                  </a:solidFill>
                  <a:latin typeface="Arial"/>
                  <a:ea typeface="Arial"/>
                  <a:cs typeface="Arial"/>
                  <a:sym typeface="Arial"/>
                </a:rPr>
                <a:t>Current research often suffers from </a:t>
              </a:r>
              <a:r>
                <a:rPr b="1" i="0" lang="en" sz="1300" u="none" cap="none" strike="noStrike">
                  <a:solidFill>
                    <a:srgbClr val="333333"/>
                  </a:solidFill>
                  <a:latin typeface="Arial"/>
                  <a:ea typeface="Arial"/>
                  <a:cs typeface="Arial"/>
                  <a:sym typeface="Arial"/>
                </a:rPr>
                <a:t>inconsistent methodologies</a:t>
              </a:r>
              <a:r>
                <a:rPr b="0" i="0" lang="en" sz="1300" u="none" cap="none" strike="noStrike">
                  <a:solidFill>
                    <a:srgbClr val="333333"/>
                  </a:solidFill>
                  <a:latin typeface="Arial"/>
                  <a:ea typeface="Arial"/>
                  <a:cs typeface="Arial"/>
                  <a:sym typeface="Arial"/>
                </a:rPr>
                <a:t>, leading to difficulties in replicating studies and validating results.Existing super resolution methods mainly focus on natural images and do not specifically address satellite image challenges.</a:t>
              </a:r>
              <a:endParaRPr sz="700"/>
            </a:p>
            <a:p>
              <a:pPr indent="0" lvl="0" marL="0" marR="0" rtl="0" algn="l">
                <a:lnSpc>
                  <a:spcPct val="120007"/>
                </a:lnSpc>
                <a:spcBef>
                  <a:spcPts val="0"/>
                </a:spcBef>
                <a:spcAft>
                  <a:spcPts val="0"/>
                </a:spcAft>
                <a:buNone/>
              </a:pPr>
              <a:r>
                <a:rPr b="0" i="0" lang="en" sz="1300" u="none" cap="none" strike="noStrike">
                  <a:solidFill>
                    <a:srgbClr val="333333"/>
                  </a:solidFill>
                  <a:latin typeface="Arial"/>
                  <a:ea typeface="Arial"/>
                  <a:cs typeface="Arial"/>
                  <a:sym typeface="Arial"/>
                </a:rPr>
                <a:t>Current models cannot recover very small objects and sometimes generate unrealistic structures. These methods require large computational resources and do not generalize well across different satellite datasets.</a:t>
              </a:r>
              <a:endParaRPr sz="700"/>
            </a:p>
            <a:p>
              <a:pPr indent="0" lvl="0" marL="0" marR="0" rtl="0" algn="l">
                <a:lnSpc>
                  <a:spcPct val="120007"/>
                </a:lnSpc>
                <a:spcBef>
                  <a:spcPts val="0"/>
                </a:spcBef>
                <a:spcAft>
                  <a:spcPts val="0"/>
                </a:spcAft>
                <a:buNone/>
              </a:pPr>
              <a:r>
                <a:rPr b="0" i="0" lang="en" sz="1300" u="none" cap="none" strike="noStrike">
                  <a:solidFill>
                    <a:srgbClr val="333333"/>
                  </a:solidFill>
                  <a:latin typeface="Arial"/>
                  <a:ea typeface="Arial"/>
                  <a:cs typeface="Arial"/>
                  <a:sym typeface="Arial"/>
                </a:rPr>
                <a:t>There is a need to develop efficient and accurate deep learning models specifically designed for satellite image enhancement.</a:t>
              </a:r>
              <a:endParaRPr sz="700"/>
            </a:p>
            <a:p>
              <a:pPr indent="0" lvl="0" marL="0" marR="0" rtl="0" algn="l">
                <a:lnSpc>
                  <a:spcPct val="120007"/>
                </a:lnSpc>
                <a:spcBef>
                  <a:spcPts val="0"/>
                </a:spcBef>
                <a:spcAft>
                  <a:spcPts val="0"/>
                </a:spcAft>
                <a:buNone/>
              </a:pPr>
              <a:r>
                <a:t/>
              </a:r>
              <a:endParaRPr b="0" i="0" sz="1300" u="none" cap="none" strike="noStrike">
                <a:solidFill>
                  <a:srgbClr val="333333"/>
                </a:solidFill>
                <a:latin typeface="Arial"/>
                <a:ea typeface="Arial"/>
                <a:cs typeface="Arial"/>
                <a:sym typeface="Arial"/>
              </a:endParaRPr>
            </a:p>
            <a:p>
              <a:pPr indent="0" lvl="0" marL="0" marR="0" rtl="0" algn="l">
                <a:lnSpc>
                  <a:spcPct val="120007"/>
                </a:lnSpc>
                <a:spcBef>
                  <a:spcPts val="0"/>
                </a:spcBef>
                <a:spcAft>
                  <a:spcPts val="0"/>
                </a:spcAft>
                <a:buNone/>
              </a:pPr>
              <a:r>
                <a:t/>
              </a:r>
              <a:endParaRPr b="0" i="0" sz="1300" u="none" cap="none" strike="noStrike">
                <a:solidFill>
                  <a:srgbClr val="333333"/>
                </a:solidFill>
                <a:latin typeface="Arial"/>
                <a:ea typeface="Arial"/>
                <a:cs typeface="Arial"/>
                <a:sym typeface="Arial"/>
              </a:endParaRPr>
            </a:p>
          </p:txBody>
        </p:sp>
      </p:grpSp>
      <p:grpSp>
        <p:nvGrpSpPr>
          <p:cNvPr id="195" name="Google Shape;195;p32"/>
          <p:cNvGrpSpPr/>
          <p:nvPr/>
        </p:nvGrpSpPr>
        <p:grpSpPr>
          <a:xfrm>
            <a:off x="3262675" y="3190025"/>
            <a:ext cx="4886363" cy="2769892"/>
            <a:chOff x="0" y="0"/>
            <a:chExt cx="13030300" cy="8089637"/>
          </a:xfrm>
        </p:grpSpPr>
        <p:sp>
          <p:nvSpPr>
            <p:cNvPr id="196" name="Google Shape;196;p32"/>
            <p:cNvSpPr txBox="1"/>
            <p:nvPr/>
          </p:nvSpPr>
          <p:spPr>
            <a:xfrm>
              <a:off x="12700" y="0"/>
              <a:ext cx="13017600" cy="6294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1" i="0" lang="en" sz="1400" u="none" cap="none" strike="noStrike">
                  <a:solidFill>
                    <a:srgbClr val="0066CC"/>
                  </a:solidFill>
                  <a:latin typeface="Arial"/>
                  <a:ea typeface="Arial"/>
                  <a:cs typeface="Arial"/>
                  <a:sym typeface="Arial"/>
                </a:rPr>
                <a:t>INNOVATION </a:t>
              </a:r>
              <a:endParaRPr sz="700"/>
            </a:p>
          </p:txBody>
        </p:sp>
        <p:sp>
          <p:nvSpPr>
            <p:cNvPr id="197" name="Google Shape;197;p32"/>
            <p:cNvSpPr txBox="1"/>
            <p:nvPr/>
          </p:nvSpPr>
          <p:spPr>
            <a:xfrm>
              <a:off x="0" y="1193237"/>
              <a:ext cx="13017600" cy="68964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0" i="0" lang="en" sz="1300" u="none" cap="none" strike="noStrike">
                  <a:solidFill>
                    <a:srgbClr val="333333"/>
                  </a:solidFill>
                  <a:latin typeface="Arial"/>
                  <a:ea typeface="Arial"/>
                  <a:cs typeface="Arial"/>
                  <a:sym typeface="Arial"/>
                </a:rPr>
                <a:t>The innovation of this project is the application of deep learning based super resolution techniques specifically for satellite images.</a:t>
              </a:r>
              <a:endParaRPr sz="700"/>
            </a:p>
            <a:p>
              <a:pPr indent="0" lvl="0" marL="0" marR="0" rtl="0" algn="l">
                <a:lnSpc>
                  <a:spcPct val="120007"/>
                </a:lnSpc>
                <a:spcBef>
                  <a:spcPts val="0"/>
                </a:spcBef>
                <a:spcAft>
                  <a:spcPts val="0"/>
                </a:spcAft>
                <a:buNone/>
              </a:pPr>
              <a:r>
                <a:rPr b="0" i="0" lang="en" sz="1300" u="none" cap="none" strike="noStrike">
                  <a:solidFill>
                    <a:srgbClr val="333333"/>
                  </a:solidFill>
                  <a:latin typeface="Arial"/>
                  <a:ea typeface="Arial"/>
                  <a:cs typeface="Arial"/>
                  <a:sym typeface="Arial"/>
                </a:rPr>
                <a:t>Unlike traditional approaches designed for natural images, this work focuses on satellite image characteristics such as noise and structural complexity.</a:t>
              </a:r>
              <a:endParaRPr sz="700"/>
            </a:p>
            <a:p>
              <a:pPr indent="0" lvl="0" marL="0" marR="0" rtl="0" algn="l">
                <a:lnSpc>
                  <a:spcPct val="120007"/>
                </a:lnSpc>
                <a:spcBef>
                  <a:spcPts val="0"/>
                </a:spcBef>
                <a:spcAft>
                  <a:spcPts val="0"/>
                </a:spcAft>
                <a:buNone/>
              </a:pPr>
              <a:r>
                <a:rPr b="0" i="0" lang="en" sz="1300" u="none" cap="none" strike="noStrike">
                  <a:solidFill>
                    <a:srgbClr val="333333"/>
                  </a:solidFill>
                  <a:latin typeface="Arial"/>
                  <a:ea typeface="Arial"/>
                  <a:cs typeface="Arial"/>
                  <a:sym typeface="Arial"/>
                </a:rPr>
                <a:t>The project aims to improve image clarity and reconstruction quality while addressing limitations of existing models.</a:t>
              </a:r>
              <a:endParaRPr sz="700"/>
            </a:p>
            <a:p>
              <a:pPr indent="0" lvl="0" marL="0" marR="0" rtl="0" algn="l">
                <a:lnSpc>
                  <a:spcPct val="120007"/>
                </a:lnSpc>
                <a:spcBef>
                  <a:spcPts val="0"/>
                </a:spcBef>
                <a:spcAft>
                  <a:spcPts val="0"/>
                </a:spcAft>
                <a:buNone/>
              </a:pPr>
              <a:r>
                <a:t/>
              </a:r>
              <a:endParaRPr b="0" i="0" sz="1300" u="none" cap="none" strike="noStrike">
                <a:solidFill>
                  <a:srgbClr val="333333"/>
                </a:solidFill>
                <a:latin typeface="Arial"/>
                <a:ea typeface="Arial"/>
                <a:cs typeface="Arial"/>
                <a:sym typeface="Arial"/>
              </a:endParaRPr>
            </a:p>
            <a:p>
              <a:pPr indent="0" lvl="0" marL="0" marR="0" rtl="0" algn="l">
                <a:lnSpc>
                  <a:spcPct val="120007"/>
                </a:lnSpc>
                <a:spcBef>
                  <a:spcPts val="0"/>
                </a:spcBef>
                <a:spcAft>
                  <a:spcPts val="0"/>
                </a:spcAft>
                <a:buNone/>
              </a:pPr>
              <a:r>
                <a:t/>
              </a:r>
              <a:endParaRPr b="0" i="0" sz="1300" u="none" cap="none" strike="noStrike">
                <a:solidFill>
                  <a:srgbClr val="333333"/>
                </a:solidFill>
                <a:latin typeface="Arial"/>
                <a:ea typeface="Arial"/>
                <a:cs typeface="Arial"/>
                <a:sym typeface="Arial"/>
              </a:endParaRPr>
            </a:p>
            <a:p>
              <a:pPr indent="0" lvl="0" marL="0" marR="0" rtl="0" algn="l">
                <a:lnSpc>
                  <a:spcPct val="120007"/>
                </a:lnSpc>
                <a:spcBef>
                  <a:spcPts val="0"/>
                </a:spcBef>
                <a:spcAft>
                  <a:spcPts val="0"/>
                </a:spcAft>
                <a:buNone/>
              </a:pPr>
              <a:r>
                <a:t/>
              </a:r>
              <a:endParaRPr b="0" i="0" sz="1300" u="none" cap="none" strike="noStrike">
                <a:solidFill>
                  <a:srgbClr val="333333"/>
                </a:solidFill>
                <a:latin typeface="Arial"/>
                <a:ea typeface="Arial"/>
                <a:cs typeface="Arial"/>
                <a:sym typeface="Arial"/>
              </a:endParaRPr>
            </a:p>
          </p:txBody>
        </p:sp>
      </p:grpSp>
      <p:sp>
        <p:nvSpPr>
          <p:cNvPr id="198" name="Google Shape;198;p32"/>
          <p:cNvSpPr txBox="1"/>
          <p:nvPr/>
        </p:nvSpPr>
        <p:spPr>
          <a:xfrm>
            <a:off x="175900" y="724650"/>
            <a:ext cx="2984400" cy="2955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4800" u="none" cap="none" strike="noStrike">
                <a:solidFill>
                  <a:srgbClr val="004080"/>
                </a:solidFill>
                <a:latin typeface="Play"/>
                <a:ea typeface="Play"/>
                <a:cs typeface="Play"/>
                <a:sym typeface="Play"/>
              </a:rPr>
              <a:t>Research Challeng</a:t>
            </a:r>
            <a:r>
              <a:rPr lang="en" sz="4800">
                <a:solidFill>
                  <a:srgbClr val="004080"/>
                </a:solidFill>
                <a:latin typeface="Play"/>
                <a:ea typeface="Play"/>
                <a:cs typeface="Play"/>
                <a:sym typeface="Play"/>
              </a:rPr>
              <a:t>e</a:t>
            </a:r>
            <a:r>
              <a:rPr b="0" i="0" lang="en" sz="4800" u="none" cap="none" strike="noStrike">
                <a:solidFill>
                  <a:srgbClr val="004080"/>
                </a:solidFill>
                <a:latin typeface="Play"/>
                <a:ea typeface="Play"/>
                <a:cs typeface="Play"/>
                <a:sym typeface="Play"/>
              </a:rPr>
              <a:t> &amp; Limitatio</a:t>
            </a:r>
            <a:r>
              <a:rPr lang="en" sz="4800">
                <a:solidFill>
                  <a:srgbClr val="004080"/>
                </a:solidFill>
                <a:latin typeface="Play"/>
                <a:ea typeface="Play"/>
                <a:cs typeface="Play"/>
                <a:sym typeface="Play"/>
              </a:rPr>
              <a:t>n</a:t>
            </a:r>
            <a:endParaRPr sz="700"/>
          </a:p>
        </p:txBody>
      </p:sp>
      <p:cxnSp>
        <p:nvCxnSpPr>
          <p:cNvPr id="199" name="Google Shape;199;p32"/>
          <p:cNvCxnSpPr/>
          <p:nvPr/>
        </p:nvCxnSpPr>
        <p:spPr>
          <a:xfrm>
            <a:off x="0" y="333375"/>
            <a:ext cx="9144000" cy="0"/>
          </a:xfrm>
          <a:prstGeom prst="straightConnector1">
            <a:avLst/>
          </a:prstGeom>
          <a:noFill/>
          <a:ln cap="flat" cmpd="sng" w="19050">
            <a:solidFill>
              <a:srgbClr val="0066CC"/>
            </a:solidFill>
            <a:prstDash val="solid"/>
            <a:round/>
            <a:headEnd len="sm" w="sm" type="none"/>
            <a:tailEnd len="sm" w="sm" type="none"/>
          </a:ln>
        </p:spPr>
      </p:cxnSp>
      <p:cxnSp>
        <p:nvCxnSpPr>
          <p:cNvPr id="200" name="Google Shape;200;p32"/>
          <p:cNvCxnSpPr/>
          <p:nvPr/>
        </p:nvCxnSpPr>
        <p:spPr>
          <a:xfrm>
            <a:off x="106600" y="5303150"/>
            <a:ext cx="9144000" cy="0"/>
          </a:xfrm>
          <a:prstGeom prst="straightConnector1">
            <a:avLst/>
          </a:prstGeom>
          <a:noFill/>
          <a:ln cap="flat" cmpd="sng" w="19050">
            <a:solidFill>
              <a:srgbClr val="0066CC"/>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grpSp>
        <p:nvGrpSpPr>
          <p:cNvPr id="205" name="Google Shape;205;p33"/>
          <p:cNvGrpSpPr/>
          <p:nvPr/>
        </p:nvGrpSpPr>
        <p:grpSpPr>
          <a:xfrm>
            <a:off x="-20250" y="0"/>
            <a:ext cx="9184500" cy="7278438"/>
            <a:chOff x="-72612" y="-18612"/>
            <a:chExt cx="24492000" cy="19409167"/>
          </a:xfrm>
        </p:grpSpPr>
        <p:sp>
          <p:nvSpPr>
            <p:cNvPr id="206" name="Google Shape;206;p33"/>
            <p:cNvSpPr txBox="1"/>
            <p:nvPr/>
          </p:nvSpPr>
          <p:spPr>
            <a:xfrm>
              <a:off x="4652054" y="-18612"/>
              <a:ext cx="13043100" cy="1847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4500" u="none" cap="none" strike="noStrike">
                  <a:solidFill>
                    <a:srgbClr val="1F2937"/>
                  </a:solidFill>
                  <a:latin typeface="Proxima Nova"/>
                  <a:ea typeface="Proxima Nova"/>
                  <a:cs typeface="Proxima Nova"/>
                  <a:sym typeface="Proxima Nova"/>
                </a:rPr>
                <a:t>METHODOLOGY</a:t>
              </a:r>
              <a:endParaRPr sz="700"/>
            </a:p>
          </p:txBody>
        </p:sp>
        <p:sp>
          <p:nvSpPr>
            <p:cNvPr id="207" name="Google Shape;207;p33"/>
            <p:cNvSpPr txBox="1"/>
            <p:nvPr/>
          </p:nvSpPr>
          <p:spPr>
            <a:xfrm>
              <a:off x="-72612" y="1536055"/>
              <a:ext cx="24492000" cy="17854500"/>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0" i="0" lang="en" sz="1500" u="none" cap="none" strike="noStrike">
                  <a:solidFill>
                    <a:srgbClr val="1F2937"/>
                  </a:solidFill>
                  <a:latin typeface="Arial"/>
                  <a:ea typeface="Arial"/>
                  <a:cs typeface="Arial"/>
                  <a:sym typeface="Arial"/>
                </a:rPr>
                <a:t>.</a:t>
              </a:r>
              <a:r>
                <a:rPr b="1" i="0" lang="en" sz="1500" u="sng" cap="none" strike="noStrike">
                  <a:solidFill>
                    <a:srgbClr val="1F2937"/>
                  </a:solidFill>
                  <a:latin typeface="Arial"/>
                  <a:ea typeface="Arial"/>
                  <a:cs typeface="Arial"/>
                  <a:sym typeface="Arial"/>
                </a:rPr>
                <a:t>Step 1: Dataset Collection</a:t>
              </a:r>
              <a:endParaRPr sz="700"/>
            </a:p>
            <a:p>
              <a:pPr indent="0" lvl="0" marL="0" marR="0" rtl="0" algn="l">
                <a:lnSpc>
                  <a:spcPct val="139993"/>
                </a:lnSpc>
                <a:spcBef>
                  <a:spcPts val="0"/>
                </a:spcBef>
                <a:spcAft>
                  <a:spcPts val="0"/>
                </a:spcAft>
                <a:buNone/>
              </a:pPr>
              <a:r>
                <a:rPr b="0" i="0" lang="en" sz="1500" u="none" cap="none" strike="noStrike">
                  <a:solidFill>
                    <a:srgbClr val="1F2937"/>
                  </a:solidFill>
                  <a:latin typeface="Arial"/>
                  <a:ea typeface="Arial"/>
                  <a:cs typeface="Arial"/>
                  <a:sym typeface="Arial"/>
                </a:rPr>
                <a:t>Satellite image dataset is collected from Kaggle containing paired low resolution and high resolution images. These images are used for training and testing the model.</a:t>
              </a:r>
              <a:endParaRPr sz="700"/>
            </a:p>
            <a:p>
              <a:pPr indent="0" lvl="0" marL="0" marR="0" rtl="0" algn="l">
                <a:lnSpc>
                  <a:spcPct val="139993"/>
                </a:lnSpc>
                <a:spcBef>
                  <a:spcPts val="0"/>
                </a:spcBef>
                <a:spcAft>
                  <a:spcPts val="0"/>
                </a:spcAft>
                <a:buNone/>
              </a:pPr>
              <a:r>
                <a:rPr b="1" i="0" lang="en" sz="1500" u="sng" cap="none" strike="noStrike">
                  <a:solidFill>
                    <a:srgbClr val="1F2937"/>
                  </a:solidFill>
                  <a:latin typeface="Arial"/>
                  <a:ea typeface="Arial"/>
                  <a:cs typeface="Arial"/>
                  <a:sym typeface="Arial"/>
                </a:rPr>
                <a:t>Step 2: Data Preprocessing</a:t>
              </a:r>
              <a:endParaRPr sz="700"/>
            </a:p>
            <a:p>
              <a:pPr indent="0" lvl="0" marL="0" marR="0" rtl="0" algn="l">
                <a:lnSpc>
                  <a:spcPct val="139993"/>
                </a:lnSpc>
                <a:spcBef>
                  <a:spcPts val="0"/>
                </a:spcBef>
                <a:spcAft>
                  <a:spcPts val="0"/>
                </a:spcAft>
                <a:buNone/>
              </a:pPr>
              <a:r>
                <a:rPr b="0" i="0" lang="en" sz="1500" u="none" cap="none" strike="noStrike">
                  <a:solidFill>
                    <a:srgbClr val="1F2937"/>
                  </a:solidFill>
                  <a:latin typeface="Arial"/>
                  <a:ea typeface="Arial"/>
                  <a:cs typeface="Arial"/>
                  <a:sym typeface="Arial"/>
                </a:rPr>
                <a:t>The satellite images are resized and normalized to prepare them for model training. Image pairs are organized into input (low resolution) and target (high resolution) images.</a:t>
              </a:r>
              <a:endParaRPr sz="700"/>
            </a:p>
            <a:p>
              <a:pPr indent="0" lvl="0" marL="0" marR="0" rtl="0" algn="l">
                <a:lnSpc>
                  <a:spcPct val="139993"/>
                </a:lnSpc>
                <a:spcBef>
                  <a:spcPts val="0"/>
                </a:spcBef>
                <a:spcAft>
                  <a:spcPts val="0"/>
                </a:spcAft>
                <a:buNone/>
              </a:pPr>
              <a:r>
                <a:rPr b="1" i="0" lang="en" sz="1500" u="sng" cap="none" strike="noStrike">
                  <a:solidFill>
                    <a:srgbClr val="1F2937"/>
                  </a:solidFill>
                  <a:latin typeface="Arial"/>
                  <a:ea typeface="Arial"/>
                  <a:cs typeface="Arial"/>
                  <a:sym typeface="Arial"/>
                </a:rPr>
                <a:t>Step 3: Model Training using ESRGAN</a:t>
              </a:r>
              <a:endParaRPr sz="700"/>
            </a:p>
            <a:p>
              <a:pPr indent="0" lvl="0" marL="0" marR="0" rtl="0" algn="l">
                <a:lnSpc>
                  <a:spcPct val="139993"/>
                </a:lnSpc>
                <a:spcBef>
                  <a:spcPts val="0"/>
                </a:spcBef>
                <a:spcAft>
                  <a:spcPts val="0"/>
                </a:spcAft>
                <a:buNone/>
              </a:pPr>
              <a:r>
                <a:rPr b="0" i="0" lang="en" sz="1500" u="none" cap="none" strike="noStrike">
                  <a:solidFill>
                    <a:srgbClr val="1F2937"/>
                  </a:solidFill>
                  <a:latin typeface="Arial"/>
                  <a:ea typeface="Arial"/>
                  <a:cs typeface="Arial"/>
                  <a:sym typeface="Arial"/>
                </a:rPr>
                <a:t>The Enhanced Super Resolution Generative Adversarial Network (ESRGAN) model is used to learn mapping between low resolution and high resolution images. The generator network enhances image resolution while the discriminator evaluates image quality.</a:t>
              </a:r>
              <a:endParaRPr sz="700"/>
            </a:p>
            <a:p>
              <a:pPr indent="0" lvl="0" marL="0" marR="0" rtl="0" algn="l">
                <a:lnSpc>
                  <a:spcPct val="139993"/>
                </a:lnSpc>
                <a:spcBef>
                  <a:spcPts val="0"/>
                </a:spcBef>
                <a:spcAft>
                  <a:spcPts val="0"/>
                </a:spcAft>
                <a:buNone/>
              </a:pPr>
              <a:r>
                <a:rPr b="1" i="0" lang="en" sz="1500" u="sng" cap="none" strike="noStrike">
                  <a:solidFill>
                    <a:srgbClr val="1F2937"/>
                  </a:solidFill>
                  <a:latin typeface="Arial"/>
                  <a:ea typeface="Arial"/>
                  <a:cs typeface="Arial"/>
                  <a:sym typeface="Arial"/>
                </a:rPr>
                <a:t>Step 4: Image Reconstruction</a:t>
              </a:r>
              <a:endParaRPr sz="700"/>
            </a:p>
            <a:p>
              <a:pPr indent="0" lvl="0" marL="0" marR="0" rtl="0" algn="l">
                <a:lnSpc>
                  <a:spcPct val="139993"/>
                </a:lnSpc>
                <a:spcBef>
                  <a:spcPts val="0"/>
                </a:spcBef>
                <a:spcAft>
                  <a:spcPts val="0"/>
                </a:spcAft>
                <a:buNone/>
              </a:pPr>
              <a:r>
                <a:rPr b="0" i="0" lang="en" sz="1500" u="none" cap="none" strike="noStrike">
                  <a:solidFill>
                    <a:srgbClr val="1F2937"/>
                  </a:solidFill>
                  <a:latin typeface="Arial"/>
                  <a:ea typeface="Arial"/>
                  <a:cs typeface="Arial"/>
                  <a:sym typeface="Arial"/>
                </a:rPr>
                <a:t>The trained model converts low resolution satellite images into high resolution images by reconstructing missing details and improving image clarity.</a:t>
              </a:r>
              <a:endParaRPr sz="700"/>
            </a:p>
            <a:p>
              <a:pPr indent="0" lvl="0" marL="0" marR="0" rtl="0" algn="l">
                <a:lnSpc>
                  <a:spcPct val="139993"/>
                </a:lnSpc>
                <a:spcBef>
                  <a:spcPts val="0"/>
                </a:spcBef>
                <a:spcAft>
                  <a:spcPts val="0"/>
                </a:spcAft>
                <a:buNone/>
              </a:pPr>
              <a:r>
                <a:rPr b="1" i="0" lang="en" sz="1500" u="sng" cap="none" strike="noStrike">
                  <a:solidFill>
                    <a:srgbClr val="1F2937"/>
                  </a:solidFill>
                </a:rPr>
                <a:t>Step 5: Performance Evaluation</a:t>
              </a:r>
              <a:endParaRPr b="1" sz="700" u="sng"/>
            </a:p>
            <a:p>
              <a:pPr indent="0" lvl="0" marL="0" marR="0" rtl="0" algn="l">
                <a:lnSpc>
                  <a:spcPct val="139993"/>
                </a:lnSpc>
                <a:spcBef>
                  <a:spcPts val="0"/>
                </a:spcBef>
                <a:spcAft>
                  <a:spcPts val="0"/>
                </a:spcAft>
                <a:buNone/>
              </a:pPr>
              <a:r>
                <a:rPr b="0" i="0" lang="en" sz="1500" u="none" cap="none" strike="noStrike">
                  <a:solidFill>
                    <a:srgbClr val="1F2937"/>
                  </a:solidFill>
                  <a:latin typeface="Arial"/>
                  <a:ea typeface="Arial"/>
                  <a:cs typeface="Arial"/>
                  <a:sym typeface="Arial"/>
                </a:rPr>
                <a:t>The output images are evaluated using image quality metrics such as PSNR and SSIM to measure improvement in resolution and structural similarity.</a:t>
              </a:r>
              <a:endParaRPr sz="700"/>
            </a:p>
            <a:p>
              <a:pPr indent="0" lvl="0" marL="0" marR="0" rtl="0" algn="l">
                <a:lnSpc>
                  <a:spcPct val="139993"/>
                </a:lnSpc>
                <a:spcBef>
                  <a:spcPts val="0"/>
                </a:spcBef>
                <a:spcAft>
                  <a:spcPts val="0"/>
                </a:spcAft>
                <a:buNone/>
              </a:pPr>
              <a:r>
                <a:rPr b="1" i="0" lang="en" sz="1500" u="sng" cap="none" strike="noStrike">
                  <a:solidFill>
                    <a:srgbClr val="1F2937"/>
                  </a:solidFill>
                </a:rPr>
                <a:t>Step 6: Result Analysis</a:t>
              </a:r>
              <a:endParaRPr b="1" sz="700" u="sng"/>
            </a:p>
            <a:p>
              <a:pPr indent="0" lvl="0" marL="0" marR="0" rtl="0" algn="l">
                <a:lnSpc>
                  <a:spcPct val="139993"/>
                </a:lnSpc>
                <a:spcBef>
                  <a:spcPts val="0"/>
                </a:spcBef>
                <a:spcAft>
                  <a:spcPts val="0"/>
                </a:spcAft>
                <a:buNone/>
              </a:pPr>
              <a:r>
                <a:rPr b="0" i="0" lang="en" sz="1500" u="none" cap="none" strike="noStrike">
                  <a:solidFill>
                    <a:srgbClr val="1F2937"/>
                  </a:solidFill>
                  <a:latin typeface="Arial"/>
                  <a:ea typeface="Arial"/>
                  <a:cs typeface="Arial"/>
                  <a:sym typeface="Arial"/>
                </a:rPr>
                <a:t>The enhanced images are compared with original low resolution images to analyze improvement in visual quality and detail preservation.</a:t>
              </a:r>
              <a:endParaRPr sz="700"/>
            </a:p>
            <a:p>
              <a:pPr indent="0" lvl="0" marL="0" marR="0" rtl="0" algn="l">
                <a:lnSpc>
                  <a:spcPct val="139993"/>
                </a:lnSpc>
                <a:spcBef>
                  <a:spcPts val="0"/>
                </a:spcBef>
                <a:spcAft>
                  <a:spcPts val="0"/>
                </a:spcAft>
                <a:buNone/>
              </a:pPr>
              <a:r>
                <a:t/>
              </a:r>
              <a:endParaRPr b="0" i="0" sz="1500" u="none" cap="none" strike="noStrike">
                <a:solidFill>
                  <a:srgbClr val="1F2937"/>
                </a:solidFill>
                <a:latin typeface="Arial"/>
                <a:ea typeface="Arial"/>
                <a:cs typeface="Arial"/>
                <a:sym typeface="Arial"/>
              </a:endParaRPr>
            </a:p>
            <a:p>
              <a:pPr indent="0" lvl="0" marL="0" marR="0" rtl="0" algn="l">
                <a:lnSpc>
                  <a:spcPct val="139993"/>
                </a:lnSpc>
                <a:spcBef>
                  <a:spcPts val="0"/>
                </a:spcBef>
                <a:spcAft>
                  <a:spcPts val="0"/>
                </a:spcAft>
                <a:buNone/>
              </a:pPr>
              <a:r>
                <a:t/>
              </a:r>
              <a:endParaRPr b="0" i="0" sz="1500" u="none" cap="none" strike="noStrike">
                <a:solidFill>
                  <a:srgbClr val="1F2937"/>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3FA"/>
        </a:solidFill>
      </p:bgPr>
    </p:bg>
    <p:spTree>
      <p:nvGrpSpPr>
        <p:cNvPr id="211" name="Shape 211"/>
        <p:cNvGrpSpPr/>
        <p:nvPr/>
      </p:nvGrpSpPr>
      <p:grpSpPr>
        <a:xfrm>
          <a:off x="0" y="0"/>
          <a:ext cx="0" cy="0"/>
          <a:chOff x="0" y="0"/>
          <a:chExt cx="0" cy="0"/>
        </a:xfrm>
      </p:grpSpPr>
      <p:sp>
        <p:nvSpPr>
          <p:cNvPr id="212" name="Google Shape;212;p34"/>
          <p:cNvSpPr/>
          <p:nvPr/>
        </p:nvSpPr>
        <p:spPr>
          <a:xfrm>
            <a:off x="682985" y="1725354"/>
            <a:ext cx="6243388" cy="1179771"/>
          </a:xfrm>
          <a:custGeom>
            <a:rect b="b" l="l" r="r" t="t"/>
            <a:pathLst>
              <a:path extrusionOk="0" h="2359541" w="12486777">
                <a:moveTo>
                  <a:pt x="0" y="0"/>
                </a:moveTo>
                <a:lnTo>
                  <a:pt x="12486777" y="0"/>
                </a:lnTo>
                <a:lnTo>
                  <a:pt x="12486777" y="2359541"/>
                </a:lnTo>
                <a:lnTo>
                  <a:pt x="0" y="2359541"/>
                </a:lnTo>
                <a:lnTo>
                  <a:pt x="0" y="0"/>
                </a:lnTo>
                <a:close/>
              </a:path>
            </a:pathLst>
          </a:custGeom>
          <a:blipFill rotWithShape="1">
            <a:blip r:embed="rId3">
              <a:alphaModFix/>
            </a:blip>
            <a:stretch>
              <a:fillRect b="0" l="0" r="0" t="0"/>
            </a:stretch>
          </a:blipFill>
          <a:ln>
            <a:noFill/>
          </a:ln>
        </p:spPr>
      </p:sp>
      <p:sp>
        <p:nvSpPr>
          <p:cNvPr id="213" name="Google Shape;213;p34"/>
          <p:cNvSpPr/>
          <p:nvPr/>
        </p:nvSpPr>
        <p:spPr>
          <a:xfrm>
            <a:off x="7021623" y="1725354"/>
            <a:ext cx="1534643" cy="1179771"/>
          </a:xfrm>
          <a:custGeom>
            <a:rect b="b" l="l" r="r" t="t"/>
            <a:pathLst>
              <a:path extrusionOk="0" h="2359541" w="3069285">
                <a:moveTo>
                  <a:pt x="0" y="0"/>
                </a:moveTo>
                <a:lnTo>
                  <a:pt x="3069285" y="0"/>
                </a:lnTo>
                <a:lnTo>
                  <a:pt x="3069285" y="2359541"/>
                </a:lnTo>
                <a:lnTo>
                  <a:pt x="0" y="2359541"/>
                </a:lnTo>
                <a:lnTo>
                  <a:pt x="0" y="0"/>
                </a:lnTo>
                <a:close/>
              </a:path>
            </a:pathLst>
          </a:custGeom>
          <a:blipFill rotWithShape="1">
            <a:blip r:embed="rId4">
              <a:alphaModFix/>
            </a:blip>
            <a:stretch>
              <a:fillRect b="0" l="0" r="-306818" t="0"/>
            </a:stretch>
          </a:blipFill>
          <a:ln>
            <a:noFill/>
          </a:ln>
        </p:spPr>
      </p:sp>
      <p:cxnSp>
        <p:nvCxnSpPr>
          <p:cNvPr id="214" name="Google Shape;214;p34"/>
          <p:cNvCxnSpPr/>
          <p:nvPr/>
        </p:nvCxnSpPr>
        <p:spPr>
          <a:xfrm>
            <a:off x="-216886" y="3210239"/>
            <a:ext cx="9577771" cy="0"/>
          </a:xfrm>
          <a:prstGeom prst="straightConnector1">
            <a:avLst/>
          </a:prstGeom>
          <a:noFill/>
          <a:ln cap="flat" cmpd="sng" w="95250">
            <a:solidFill>
              <a:srgbClr val="DBE0E3"/>
            </a:solidFill>
            <a:prstDash val="solid"/>
            <a:round/>
            <a:headEnd len="sm" w="sm" type="none"/>
            <a:tailEnd len="sm" w="sm" type="none"/>
          </a:ln>
        </p:spPr>
      </p:cxnSp>
      <p:grpSp>
        <p:nvGrpSpPr>
          <p:cNvPr id="215" name="Google Shape;215;p34"/>
          <p:cNvGrpSpPr/>
          <p:nvPr/>
        </p:nvGrpSpPr>
        <p:grpSpPr>
          <a:xfrm>
            <a:off x="1208486" y="3143250"/>
            <a:ext cx="133978" cy="133978"/>
            <a:chOff x="0" y="0"/>
            <a:chExt cx="812800" cy="812800"/>
          </a:xfrm>
        </p:grpSpPr>
        <p:sp>
          <p:nvSpPr>
            <p:cNvPr id="216" name="Google Shape;216;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E11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17" name="Google Shape;217;p34"/>
            <p:cNvSpPr txBox="1"/>
            <p:nvPr/>
          </p:nvSpPr>
          <p:spPr>
            <a:xfrm>
              <a:off x="76200" y="57150"/>
              <a:ext cx="660400" cy="679450"/>
            </a:xfrm>
            <a:prstGeom prst="rect">
              <a:avLst/>
            </a:prstGeom>
            <a:noFill/>
            <a:ln>
              <a:noFill/>
            </a:ln>
          </p:spPr>
          <p:txBody>
            <a:bodyPr anchorCtr="0" anchor="ctr" bIns="25400" lIns="25400" spcFirstLastPara="1" rIns="25400" wrap="square" tIns="25400">
              <a:noAutofit/>
            </a:bodyPr>
            <a:lstStyle/>
            <a:p>
              <a:pPr indent="0" lvl="0" marL="0" marR="0" rtl="0" algn="ctr">
                <a:lnSpc>
                  <a:spcPct val="124444"/>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18" name="Google Shape;218;p34"/>
          <p:cNvGrpSpPr/>
          <p:nvPr/>
        </p:nvGrpSpPr>
        <p:grpSpPr>
          <a:xfrm>
            <a:off x="2780981" y="3143250"/>
            <a:ext cx="133978" cy="133978"/>
            <a:chOff x="0" y="0"/>
            <a:chExt cx="812800" cy="812800"/>
          </a:xfrm>
        </p:grpSpPr>
        <p:sp>
          <p:nvSpPr>
            <p:cNvPr id="219" name="Google Shape;219;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26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20" name="Google Shape;220;p34"/>
            <p:cNvSpPr txBox="1"/>
            <p:nvPr/>
          </p:nvSpPr>
          <p:spPr>
            <a:xfrm>
              <a:off x="76200" y="57150"/>
              <a:ext cx="660400" cy="679450"/>
            </a:xfrm>
            <a:prstGeom prst="rect">
              <a:avLst/>
            </a:prstGeom>
            <a:noFill/>
            <a:ln>
              <a:noFill/>
            </a:ln>
          </p:spPr>
          <p:txBody>
            <a:bodyPr anchorCtr="0" anchor="ctr" bIns="25400" lIns="25400" spcFirstLastPara="1" rIns="25400" wrap="square" tIns="25400">
              <a:noAutofit/>
            </a:bodyPr>
            <a:lstStyle/>
            <a:p>
              <a:pPr indent="0" lvl="0" marL="0" marR="0" rtl="0" algn="ctr">
                <a:lnSpc>
                  <a:spcPct val="124444"/>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21" name="Google Shape;221;p34"/>
          <p:cNvGrpSpPr/>
          <p:nvPr/>
        </p:nvGrpSpPr>
        <p:grpSpPr>
          <a:xfrm>
            <a:off x="4353475" y="3143250"/>
            <a:ext cx="133978" cy="133978"/>
            <a:chOff x="0" y="0"/>
            <a:chExt cx="812800" cy="812800"/>
          </a:xfrm>
        </p:grpSpPr>
        <p:sp>
          <p:nvSpPr>
            <p:cNvPr id="222" name="Google Shape;222;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B8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23" name="Google Shape;223;p34"/>
            <p:cNvSpPr txBox="1"/>
            <p:nvPr/>
          </p:nvSpPr>
          <p:spPr>
            <a:xfrm>
              <a:off x="76200" y="57150"/>
              <a:ext cx="660400" cy="679450"/>
            </a:xfrm>
            <a:prstGeom prst="rect">
              <a:avLst/>
            </a:prstGeom>
            <a:noFill/>
            <a:ln>
              <a:noFill/>
            </a:ln>
          </p:spPr>
          <p:txBody>
            <a:bodyPr anchorCtr="0" anchor="ctr" bIns="25400" lIns="25400" spcFirstLastPara="1" rIns="25400" wrap="square" tIns="25400">
              <a:noAutofit/>
            </a:bodyPr>
            <a:lstStyle/>
            <a:p>
              <a:pPr indent="0" lvl="0" marL="0" marR="0" rtl="0" algn="ctr">
                <a:lnSpc>
                  <a:spcPct val="124444"/>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24" name="Google Shape;224;p34"/>
          <p:cNvGrpSpPr/>
          <p:nvPr/>
        </p:nvGrpSpPr>
        <p:grpSpPr>
          <a:xfrm>
            <a:off x="5925970" y="3143250"/>
            <a:ext cx="133978" cy="133978"/>
            <a:chOff x="0" y="0"/>
            <a:chExt cx="812800" cy="812800"/>
          </a:xfrm>
        </p:grpSpPr>
        <p:sp>
          <p:nvSpPr>
            <p:cNvPr id="225" name="Google Shape;225;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D6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26" name="Google Shape;226;p34"/>
            <p:cNvSpPr txBox="1"/>
            <p:nvPr/>
          </p:nvSpPr>
          <p:spPr>
            <a:xfrm>
              <a:off x="76200" y="57150"/>
              <a:ext cx="660400" cy="679450"/>
            </a:xfrm>
            <a:prstGeom prst="rect">
              <a:avLst/>
            </a:prstGeom>
            <a:noFill/>
            <a:ln>
              <a:noFill/>
            </a:ln>
          </p:spPr>
          <p:txBody>
            <a:bodyPr anchorCtr="0" anchor="ctr" bIns="25400" lIns="25400" spcFirstLastPara="1" rIns="25400" wrap="square" tIns="25400">
              <a:noAutofit/>
            </a:bodyPr>
            <a:lstStyle/>
            <a:p>
              <a:pPr indent="0" lvl="0" marL="0" marR="0" rtl="0" algn="ctr">
                <a:lnSpc>
                  <a:spcPct val="124444"/>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27" name="Google Shape;227;p34"/>
          <p:cNvGrpSpPr/>
          <p:nvPr/>
        </p:nvGrpSpPr>
        <p:grpSpPr>
          <a:xfrm>
            <a:off x="7522405" y="3143250"/>
            <a:ext cx="133978" cy="133978"/>
            <a:chOff x="0" y="0"/>
            <a:chExt cx="812800" cy="812800"/>
          </a:xfrm>
        </p:grpSpPr>
        <p:sp>
          <p:nvSpPr>
            <p:cNvPr id="228" name="Google Shape;228;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38"/>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29" name="Google Shape;229;p34"/>
            <p:cNvSpPr txBox="1"/>
            <p:nvPr/>
          </p:nvSpPr>
          <p:spPr>
            <a:xfrm>
              <a:off x="76200" y="57150"/>
              <a:ext cx="660400" cy="679450"/>
            </a:xfrm>
            <a:prstGeom prst="rect">
              <a:avLst/>
            </a:prstGeom>
            <a:noFill/>
            <a:ln>
              <a:noFill/>
            </a:ln>
          </p:spPr>
          <p:txBody>
            <a:bodyPr anchorCtr="0" anchor="ctr" bIns="25400" lIns="25400" spcFirstLastPara="1" rIns="25400" wrap="square" tIns="25400">
              <a:noAutofit/>
            </a:bodyPr>
            <a:lstStyle/>
            <a:p>
              <a:pPr indent="0" lvl="0" marL="0" marR="0" rtl="0" algn="ctr">
                <a:lnSpc>
                  <a:spcPct val="124444"/>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30" name="Google Shape;230;p34"/>
          <p:cNvSpPr/>
          <p:nvPr/>
        </p:nvSpPr>
        <p:spPr>
          <a:xfrm>
            <a:off x="1098457" y="2044116"/>
            <a:ext cx="354037" cy="340519"/>
          </a:xfrm>
          <a:custGeom>
            <a:rect b="b" l="l" r="r" t="t"/>
            <a:pathLst>
              <a:path extrusionOk="0" h="681038" w="708073">
                <a:moveTo>
                  <a:pt x="0" y="0"/>
                </a:moveTo>
                <a:lnTo>
                  <a:pt x="708073" y="0"/>
                </a:lnTo>
                <a:lnTo>
                  <a:pt x="708073" y="681038"/>
                </a:lnTo>
                <a:lnTo>
                  <a:pt x="0" y="681038"/>
                </a:lnTo>
                <a:lnTo>
                  <a:pt x="0" y="0"/>
                </a:lnTo>
                <a:close/>
              </a:path>
            </a:pathLst>
          </a:custGeom>
          <a:blipFill rotWithShape="1">
            <a:blip r:embed="rId5">
              <a:alphaModFix/>
            </a:blip>
            <a:stretch>
              <a:fillRect b="0" l="0" r="0" t="0"/>
            </a:stretch>
          </a:blipFill>
          <a:ln>
            <a:noFill/>
          </a:ln>
        </p:spPr>
      </p:sp>
      <p:sp>
        <p:nvSpPr>
          <p:cNvPr id="231" name="Google Shape;231;p34"/>
          <p:cNvSpPr/>
          <p:nvPr/>
        </p:nvSpPr>
        <p:spPr>
          <a:xfrm>
            <a:off x="2712475" y="2037784"/>
            <a:ext cx="270988" cy="353183"/>
          </a:xfrm>
          <a:custGeom>
            <a:rect b="b" l="l" r="r" t="t"/>
            <a:pathLst>
              <a:path extrusionOk="0" h="706366" w="541976">
                <a:moveTo>
                  <a:pt x="0" y="0"/>
                </a:moveTo>
                <a:lnTo>
                  <a:pt x="541976" y="0"/>
                </a:lnTo>
                <a:lnTo>
                  <a:pt x="541976" y="706366"/>
                </a:lnTo>
                <a:lnTo>
                  <a:pt x="0" y="706366"/>
                </a:lnTo>
                <a:lnTo>
                  <a:pt x="0" y="0"/>
                </a:lnTo>
                <a:close/>
              </a:path>
            </a:pathLst>
          </a:custGeom>
          <a:blipFill rotWithShape="1">
            <a:blip r:embed="rId6">
              <a:alphaModFix/>
            </a:blip>
            <a:stretch>
              <a:fillRect b="0" l="0" r="0" t="0"/>
            </a:stretch>
          </a:blipFill>
          <a:ln>
            <a:noFill/>
          </a:ln>
        </p:spPr>
      </p:sp>
      <p:sp>
        <p:nvSpPr>
          <p:cNvPr id="232" name="Google Shape;232;p34"/>
          <p:cNvSpPr/>
          <p:nvPr/>
        </p:nvSpPr>
        <p:spPr>
          <a:xfrm>
            <a:off x="4232919" y="2026831"/>
            <a:ext cx="375090" cy="375090"/>
          </a:xfrm>
          <a:custGeom>
            <a:rect b="b" l="l" r="r" t="t"/>
            <a:pathLst>
              <a:path extrusionOk="0" h="750181" w="750181">
                <a:moveTo>
                  <a:pt x="0" y="0"/>
                </a:moveTo>
                <a:lnTo>
                  <a:pt x="750180" y="0"/>
                </a:lnTo>
                <a:lnTo>
                  <a:pt x="750180" y="750180"/>
                </a:lnTo>
                <a:lnTo>
                  <a:pt x="0" y="750180"/>
                </a:lnTo>
                <a:lnTo>
                  <a:pt x="0" y="0"/>
                </a:lnTo>
                <a:close/>
              </a:path>
            </a:pathLst>
          </a:custGeom>
          <a:blipFill rotWithShape="1">
            <a:blip r:embed="rId7">
              <a:alphaModFix/>
            </a:blip>
            <a:stretch>
              <a:fillRect b="0" l="0" r="0" t="0"/>
            </a:stretch>
          </a:blipFill>
          <a:ln>
            <a:noFill/>
          </a:ln>
        </p:spPr>
      </p:sp>
      <p:sp>
        <p:nvSpPr>
          <p:cNvPr id="233" name="Google Shape;233;p34"/>
          <p:cNvSpPr/>
          <p:nvPr/>
        </p:nvSpPr>
        <p:spPr>
          <a:xfrm>
            <a:off x="5837868" y="2044116"/>
            <a:ext cx="310182" cy="340519"/>
          </a:xfrm>
          <a:custGeom>
            <a:rect b="b" l="l" r="r" t="t"/>
            <a:pathLst>
              <a:path extrusionOk="0" h="681038" w="620364">
                <a:moveTo>
                  <a:pt x="0" y="0"/>
                </a:moveTo>
                <a:lnTo>
                  <a:pt x="620364" y="0"/>
                </a:lnTo>
                <a:lnTo>
                  <a:pt x="620364" y="681038"/>
                </a:lnTo>
                <a:lnTo>
                  <a:pt x="0" y="681038"/>
                </a:lnTo>
                <a:lnTo>
                  <a:pt x="0" y="0"/>
                </a:lnTo>
                <a:close/>
              </a:path>
            </a:pathLst>
          </a:custGeom>
          <a:blipFill rotWithShape="1">
            <a:blip r:embed="rId8">
              <a:alphaModFix/>
            </a:blip>
            <a:stretch>
              <a:fillRect b="0" l="0" r="0" t="0"/>
            </a:stretch>
          </a:blipFill>
          <a:ln>
            <a:noFill/>
          </a:ln>
        </p:spPr>
      </p:sp>
      <p:sp>
        <p:nvSpPr>
          <p:cNvPr id="234" name="Google Shape;234;p34"/>
          <p:cNvSpPr txBox="1"/>
          <p:nvPr/>
        </p:nvSpPr>
        <p:spPr>
          <a:xfrm>
            <a:off x="1662221" y="442913"/>
            <a:ext cx="5819557" cy="30671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 sz="1800" u="none" cap="none" strike="noStrike">
                <a:solidFill>
                  <a:srgbClr val="000000"/>
                </a:solidFill>
                <a:latin typeface="Arial"/>
                <a:ea typeface="Arial"/>
                <a:cs typeface="Arial"/>
                <a:sym typeface="Arial"/>
              </a:rPr>
              <a:t>Project Timeline Path</a:t>
            </a:r>
            <a:endParaRPr sz="700"/>
          </a:p>
        </p:txBody>
      </p:sp>
      <p:sp>
        <p:nvSpPr>
          <p:cNvPr id="235" name="Google Shape;235;p34"/>
          <p:cNvSpPr txBox="1"/>
          <p:nvPr/>
        </p:nvSpPr>
        <p:spPr>
          <a:xfrm>
            <a:off x="1662221" y="853209"/>
            <a:ext cx="5819557" cy="16160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1000" u="none" cap="none" strike="noStrike">
                <a:solidFill>
                  <a:srgbClr val="000000"/>
                </a:solidFill>
                <a:latin typeface="Arial"/>
                <a:ea typeface="Arial"/>
                <a:cs typeface="Arial"/>
                <a:sym typeface="Arial"/>
              </a:rPr>
              <a:t>Five sequential phases mark project progress milestones</a:t>
            </a:r>
            <a:endParaRPr sz="700"/>
          </a:p>
        </p:txBody>
      </p:sp>
      <p:sp>
        <p:nvSpPr>
          <p:cNvPr id="236" name="Google Shape;236;p34"/>
          <p:cNvSpPr txBox="1"/>
          <p:nvPr/>
        </p:nvSpPr>
        <p:spPr>
          <a:xfrm>
            <a:off x="682985" y="3420311"/>
            <a:ext cx="1184982" cy="34607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i="0" lang="en" sz="1000" u="none" cap="none" strike="noStrike">
                <a:solidFill>
                  <a:srgbClr val="000000"/>
                </a:solidFill>
                <a:latin typeface="Arial"/>
                <a:ea typeface="Arial"/>
                <a:cs typeface="Arial"/>
                <a:sym typeface="Arial"/>
              </a:rPr>
              <a:t>LOW RESOLUTION</a:t>
            </a:r>
            <a:endParaRPr sz="700"/>
          </a:p>
          <a:p>
            <a:pPr indent="0" lvl="0" marL="0" marR="0" rtl="0" algn="ctr">
              <a:lnSpc>
                <a:spcPct val="140020"/>
              </a:lnSpc>
              <a:spcBef>
                <a:spcPts val="0"/>
              </a:spcBef>
              <a:spcAft>
                <a:spcPts val="0"/>
              </a:spcAft>
              <a:buNone/>
            </a:pPr>
            <a:r>
              <a:rPr b="1" i="0" lang="en" sz="1000" u="none" cap="none" strike="noStrike">
                <a:solidFill>
                  <a:srgbClr val="000000"/>
                </a:solidFill>
                <a:latin typeface="Arial"/>
                <a:ea typeface="Arial"/>
                <a:cs typeface="Arial"/>
                <a:sym typeface="Arial"/>
              </a:rPr>
              <a:t>SATELLITE IMAGE</a:t>
            </a:r>
            <a:endParaRPr sz="700"/>
          </a:p>
        </p:txBody>
      </p:sp>
      <p:sp>
        <p:nvSpPr>
          <p:cNvPr id="237" name="Google Shape;237;p34"/>
          <p:cNvSpPr txBox="1"/>
          <p:nvPr/>
        </p:nvSpPr>
        <p:spPr>
          <a:xfrm>
            <a:off x="682985" y="2587289"/>
            <a:ext cx="1184982" cy="12733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 sz="800" u="none" cap="none" strike="noStrike">
                <a:solidFill>
                  <a:srgbClr val="FFFFFF"/>
                </a:solidFill>
                <a:latin typeface="Arial"/>
                <a:ea typeface="Arial"/>
                <a:cs typeface="Arial"/>
                <a:sym typeface="Arial"/>
              </a:rPr>
              <a:t>Phase 1</a:t>
            </a:r>
            <a:endParaRPr sz="700"/>
          </a:p>
        </p:txBody>
      </p:sp>
      <p:sp>
        <p:nvSpPr>
          <p:cNvPr id="238" name="Google Shape;238;p34"/>
          <p:cNvSpPr txBox="1"/>
          <p:nvPr/>
        </p:nvSpPr>
        <p:spPr>
          <a:xfrm>
            <a:off x="2255479" y="3420311"/>
            <a:ext cx="1184982" cy="698500"/>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i="0" lang="en" sz="1000" u="none" cap="none" strike="noStrike">
                <a:solidFill>
                  <a:srgbClr val="000000"/>
                </a:solidFill>
                <a:latin typeface="Arial"/>
                <a:ea typeface="Arial"/>
                <a:cs typeface="Arial"/>
                <a:sym typeface="Arial"/>
              </a:rPr>
              <a:t>DATASET COLLECTION AND </a:t>
            </a:r>
            <a:endParaRPr sz="700"/>
          </a:p>
          <a:p>
            <a:pPr indent="0" lvl="0" marL="0" marR="0" rtl="0" algn="ctr">
              <a:lnSpc>
                <a:spcPct val="140020"/>
              </a:lnSpc>
              <a:spcBef>
                <a:spcPts val="0"/>
              </a:spcBef>
              <a:spcAft>
                <a:spcPts val="0"/>
              </a:spcAft>
              <a:buNone/>
            </a:pPr>
            <a:r>
              <a:rPr b="1" i="0" lang="en" sz="1000" u="none" cap="none" strike="noStrike">
                <a:solidFill>
                  <a:srgbClr val="000000"/>
                </a:solidFill>
                <a:latin typeface="Arial"/>
                <a:ea typeface="Arial"/>
                <a:cs typeface="Arial"/>
                <a:sym typeface="Arial"/>
              </a:rPr>
              <a:t>IMAGE PREPROCESSING</a:t>
            </a:r>
            <a:endParaRPr sz="700"/>
          </a:p>
        </p:txBody>
      </p:sp>
      <p:sp>
        <p:nvSpPr>
          <p:cNvPr id="239" name="Google Shape;239;p34"/>
          <p:cNvSpPr txBox="1"/>
          <p:nvPr/>
        </p:nvSpPr>
        <p:spPr>
          <a:xfrm>
            <a:off x="2255479" y="2587289"/>
            <a:ext cx="1184982" cy="12733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 sz="800" u="none" cap="none" strike="noStrike">
                <a:solidFill>
                  <a:srgbClr val="FFFFFF"/>
                </a:solidFill>
                <a:latin typeface="Arial"/>
                <a:ea typeface="Arial"/>
                <a:cs typeface="Arial"/>
                <a:sym typeface="Arial"/>
              </a:rPr>
              <a:t>Phase 2</a:t>
            </a:r>
            <a:endParaRPr sz="700"/>
          </a:p>
        </p:txBody>
      </p:sp>
      <p:sp>
        <p:nvSpPr>
          <p:cNvPr id="240" name="Google Shape;240;p34"/>
          <p:cNvSpPr txBox="1"/>
          <p:nvPr/>
        </p:nvSpPr>
        <p:spPr>
          <a:xfrm>
            <a:off x="3827973" y="3420311"/>
            <a:ext cx="1184982" cy="874713"/>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i="0" lang="en" sz="1000" u="none" cap="none" strike="noStrike">
                <a:solidFill>
                  <a:srgbClr val="000000"/>
                </a:solidFill>
                <a:latin typeface="Arial"/>
                <a:ea typeface="Arial"/>
                <a:cs typeface="Arial"/>
                <a:sym typeface="Arial"/>
              </a:rPr>
              <a:t>ESRGAN MODEL TRAINING AND</a:t>
            </a:r>
            <a:endParaRPr sz="700"/>
          </a:p>
          <a:p>
            <a:pPr indent="0" lvl="0" marL="0" marR="0" rtl="0" algn="ctr">
              <a:lnSpc>
                <a:spcPct val="140020"/>
              </a:lnSpc>
              <a:spcBef>
                <a:spcPts val="0"/>
              </a:spcBef>
              <a:spcAft>
                <a:spcPts val="0"/>
              </a:spcAft>
              <a:buNone/>
            </a:pPr>
            <a:r>
              <a:rPr b="1" i="0" lang="en" sz="1000" u="none" cap="none" strike="noStrike">
                <a:solidFill>
                  <a:srgbClr val="000000"/>
                </a:solidFill>
                <a:latin typeface="Arial"/>
                <a:ea typeface="Arial"/>
                <a:cs typeface="Arial"/>
                <a:sym typeface="Arial"/>
              </a:rPr>
              <a:t>HIGH RESOLUTION IMAGE GENERATION</a:t>
            </a:r>
            <a:endParaRPr sz="700"/>
          </a:p>
        </p:txBody>
      </p:sp>
      <p:sp>
        <p:nvSpPr>
          <p:cNvPr id="241" name="Google Shape;241;p34"/>
          <p:cNvSpPr txBox="1"/>
          <p:nvPr/>
        </p:nvSpPr>
        <p:spPr>
          <a:xfrm>
            <a:off x="3827973" y="2587289"/>
            <a:ext cx="1184982" cy="12733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 sz="800" u="none" cap="none" strike="noStrike">
                <a:solidFill>
                  <a:srgbClr val="FFFFFF"/>
                </a:solidFill>
                <a:latin typeface="Arial"/>
                <a:ea typeface="Arial"/>
                <a:cs typeface="Arial"/>
                <a:sym typeface="Arial"/>
              </a:rPr>
              <a:t>Phase 3</a:t>
            </a:r>
            <a:endParaRPr sz="700"/>
          </a:p>
        </p:txBody>
      </p:sp>
      <p:sp>
        <p:nvSpPr>
          <p:cNvPr id="242" name="Google Shape;242;p34"/>
          <p:cNvSpPr txBox="1"/>
          <p:nvPr/>
        </p:nvSpPr>
        <p:spPr>
          <a:xfrm>
            <a:off x="5400468" y="3420311"/>
            <a:ext cx="1184982" cy="34607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i="0" lang="en" sz="1000" u="none" cap="none" strike="noStrike">
                <a:solidFill>
                  <a:srgbClr val="000000"/>
                </a:solidFill>
                <a:latin typeface="Arial"/>
                <a:ea typeface="Arial"/>
                <a:cs typeface="Arial"/>
                <a:sym typeface="Arial"/>
              </a:rPr>
              <a:t>PERFORMACE EVALUATION</a:t>
            </a:r>
            <a:endParaRPr sz="700"/>
          </a:p>
        </p:txBody>
      </p:sp>
      <p:sp>
        <p:nvSpPr>
          <p:cNvPr id="243" name="Google Shape;243;p34"/>
          <p:cNvSpPr txBox="1"/>
          <p:nvPr/>
        </p:nvSpPr>
        <p:spPr>
          <a:xfrm>
            <a:off x="5400468" y="2587289"/>
            <a:ext cx="1184982" cy="12733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 sz="800" u="none" cap="none" strike="noStrike">
                <a:solidFill>
                  <a:srgbClr val="FFFFFF"/>
                </a:solidFill>
                <a:latin typeface="Arial"/>
                <a:ea typeface="Arial"/>
                <a:cs typeface="Arial"/>
                <a:sym typeface="Arial"/>
              </a:rPr>
              <a:t>Phase 4</a:t>
            </a:r>
            <a:endParaRPr sz="700"/>
          </a:p>
        </p:txBody>
      </p:sp>
      <p:sp>
        <p:nvSpPr>
          <p:cNvPr id="244" name="Google Shape;244;p34"/>
          <p:cNvSpPr txBox="1"/>
          <p:nvPr/>
        </p:nvSpPr>
        <p:spPr>
          <a:xfrm>
            <a:off x="6996904" y="3420311"/>
            <a:ext cx="1184982" cy="169863"/>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i="0" lang="en" sz="1000" u="none" cap="none" strike="noStrike">
                <a:solidFill>
                  <a:srgbClr val="000000"/>
                </a:solidFill>
                <a:latin typeface="Arial"/>
                <a:ea typeface="Arial"/>
                <a:cs typeface="Arial"/>
                <a:sym typeface="Arial"/>
              </a:rPr>
              <a:t>RESULT ANALYSIS</a:t>
            </a:r>
            <a:endParaRPr sz="700"/>
          </a:p>
        </p:txBody>
      </p:sp>
      <p:sp>
        <p:nvSpPr>
          <p:cNvPr id="245" name="Google Shape;245;p34"/>
          <p:cNvSpPr txBox="1"/>
          <p:nvPr/>
        </p:nvSpPr>
        <p:spPr>
          <a:xfrm>
            <a:off x="6996904" y="2587289"/>
            <a:ext cx="1184982" cy="12733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 sz="800" u="none" cap="none" strike="noStrike">
                <a:solidFill>
                  <a:srgbClr val="FFFFFF"/>
                </a:solidFill>
                <a:latin typeface="Arial"/>
                <a:ea typeface="Arial"/>
                <a:cs typeface="Arial"/>
                <a:sym typeface="Arial"/>
              </a:rPr>
              <a:t>Phase 5</a:t>
            </a:r>
            <a:endParaRPr sz="700"/>
          </a:p>
        </p:txBody>
      </p:sp>
      <p:sp>
        <p:nvSpPr>
          <p:cNvPr id="246" name="Google Shape;246;p34"/>
          <p:cNvSpPr/>
          <p:nvPr/>
        </p:nvSpPr>
        <p:spPr>
          <a:xfrm>
            <a:off x="7476273" y="2049228"/>
            <a:ext cx="226243" cy="355723"/>
          </a:xfrm>
          <a:custGeom>
            <a:rect b="b" l="l" r="r" t="t"/>
            <a:pathLst>
              <a:path extrusionOk="0" h="711446" w="452487">
                <a:moveTo>
                  <a:pt x="0" y="0"/>
                </a:moveTo>
                <a:lnTo>
                  <a:pt x="452487" y="0"/>
                </a:lnTo>
                <a:lnTo>
                  <a:pt x="452487" y="711445"/>
                </a:lnTo>
                <a:lnTo>
                  <a:pt x="0" y="711445"/>
                </a:lnTo>
                <a:lnTo>
                  <a:pt x="0" y="0"/>
                </a:lnTo>
                <a:close/>
              </a:path>
            </a:pathLst>
          </a:custGeom>
          <a:blipFill rotWithShape="1">
            <a:blip r:embed="rId9">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B70"/>
        </a:solidFill>
      </p:bgPr>
    </p:bg>
    <p:spTree>
      <p:nvGrpSpPr>
        <p:cNvPr id="250" name="Shape 250"/>
        <p:cNvGrpSpPr/>
        <p:nvPr/>
      </p:nvGrpSpPr>
      <p:grpSpPr>
        <a:xfrm>
          <a:off x="0" y="0"/>
          <a:ext cx="0" cy="0"/>
          <a:chOff x="0" y="0"/>
          <a:chExt cx="0" cy="0"/>
        </a:xfrm>
      </p:grpSpPr>
      <p:sp>
        <p:nvSpPr>
          <p:cNvPr id="251" name="Google Shape;251;p35"/>
          <p:cNvSpPr txBox="1"/>
          <p:nvPr/>
        </p:nvSpPr>
        <p:spPr>
          <a:xfrm>
            <a:off x="11600" y="181775"/>
            <a:ext cx="6973500" cy="61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000" u="sng" cap="none" strike="noStrike">
                <a:solidFill>
                  <a:srgbClr val="E6DDD1"/>
                </a:solidFill>
                <a:latin typeface="Tenor Sans"/>
                <a:ea typeface="Tenor Sans"/>
                <a:cs typeface="Tenor Sans"/>
                <a:sym typeface="Tenor Sans"/>
              </a:rPr>
              <a:t>Expected Results Overview</a:t>
            </a:r>
            <a:endParaRPr sz="700"/>
          </a:p>
          <a:p>
            <a:pPr indent="0" lvl="0" marL="0" marR="0" rtl="0" algn="l">
              <a:lnSpc>
                <a:spcPct val="100000"/>
              </a:lnSpc>
              <a:spcBef>
                <a:spcPts val="0"/>
              </a:spcBef>
              <a:spcAft>
                <a:spcPts val="0"/>
              </a:spcAft>
              <a:buNone/>
            </a:pPr>
            <a:r>
              <a:t/>
            </a:r>
            <a:endParaRPr b="0" i="0" sz="2000" u="none" cap="none" strike="noStrike">
              <a:solidFill>
                <a:srgbClr val="E6DDD1"/>
              </a:solidFill>
              <a:latin typeface="Tenor Sans"/>
              <a:ea typeface="Tenor Sans"/>
              <a:cs typeface="Tenor Sans"/>
              <a:sym typeface="Tenor Sans"/>
            </a:endParaRPr>
          </a:p>
        </p:txBody>
      </p:sp>
      <p:sp>
        <p:nvSpPr>
          <p:cNvPr id="252" name="Google Shape;252;p35"/>
          <p:cNvSpPr/>
          <p:nvPr/>
        </p:nvSpPr>
        <p:spPr>
          <a:xfrm>
            <a:off x="6798476" y="0"/>
            <a:ext cx="2344768" cy="5143747"/>
          </a:xfrm>
          <a:custGeom>
            <a:rect b="b" l="l" r="r" t="t"/>
            <a:pathLst>
              <a:path extrusionOk="0" h="1593725" w="947381">
                <a:moveTo>
                  <a:pt x="0" y="0"/>
                </a:moveTo>
                <a:lnTo>
                  <a:pt x="947381" y="0"/>
                </a:lnTo>
                <a:lnTo>
                  <a:pt x="947381" y="1593725"/>
                </a:lnTo>
                <a:lnTo>
                  <a:pt x="0" y="1593725"/>
                </a:lnTo>
                <a:close/>
              </a:path>
            </a:pathLst>
          </a:custGeom>
          <a:blipFill rotWithShape="1">
            <a:blip r:embed="rId3">
              <a:alphaModFix/>
            </a:blip>
            <a:stretch>
              <a:fillRect b="-57" l="0" r="0" t="-57"/>
            </a:stretch>
          </a:blipFill>
          <a:ln>
            <a:noFill/>
          </a:ln>
        </p:spPr>
      </p:sp>
      <p:sp>
        <p:nvSpPr>
          <p:cNvPr id="253" name="Google Shape;253;p35"/>
          <p:cNvSpPr/>
          <p:nvPr/>
        </p:nvSpPr>
        <p:spPr>
          <a:xfrm>
            <a:off x="5179977" y="4346650"/>
            <a:ext cx="2337387" cy="1409319"/>
          </a:xfrm>
          <a:custGeom>
            <a:rect b="b" l="l" r="r" t="t"/>
            <a:pathLst>
              <a:path extrusionOk="0" h="4114800" w="6274865">
                <a:moveTo>
                  <a:pt x="0" y="0"/>
                </a:moveTo>
                <a:lnTo>
                  <a:pt x="6274865" y="0"/>
                </a:lnTo>
                <a:lnTo>
                  <a:pt x="6274865" y="4114800"/>
                </a:lnTo>
                <a:lnTo>
                  <a:pt x="0" y="4114800"/>
                </a:lnTo>
                <a:lnTo>
                  <a:pt x="0" y="0"/>
                </a:lnTo>
                <a:close/>
              </a:path>
            </a:pathLst>
          </a:custGeom>
          <a:blipFill rotWithShape="1">
            <a:blip r:embed="rId4">
              <a:alphaModFix/>
            </a:blip>
            <a:stretch>
              <a:fillRect b="0" l="0" r="0" t="0"/>
            </a:stretch>
          </a:blipFill>
          <a:ln>
            <a:noFill/>
          </a:ln>
        </p:spPr>
      </p:sp>
      <p:pic>
        <p:nvPicPr>
          <p:cNvPr id="254" name="Google Shape;254;p35"/>
          <p:cNvPicPr preferRelativeResize="0"/>
          <p:nvPr/>
        </p:nvPicPr>
        <p:blipFill>
          <a:blip r:embed="rId5">
            <a:alphaModFix/>
          </a:blip>
          <a:stretch>
            <a:fillRect/>
          </a:stretch>
        </p:blipFill>
        <p:spPr>
          <a:xfrm>
            <a:off x="152400" y="521325"/>
            <a:ext cx="6646073" cy="47113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258" name="Shape 258"/>
        <p:cNvGrpSpPr/>
        <p:nvPr/>
      </p:nvGrpSpPr>
      <p:grpSpPr>
        <a:xfrm>
          <a:off x="0" y="0"/>
          <a:ext cx="0" cy="0"/>
          <a:chOff x="0" y="0"/>
          <a:chExt cx="0" cy="0"/>
        </a:xfrm>
      </p:grpSpPr>
      <p:sp>
        <p:nvSpPr>
          <p:cNvPr id="259" name="Google Shape;259;p36"/>
          <p:cNvSpPr/>
          <p:nvPr/>
        </p:nvSpPr>
        <p:spPr>
          <a:xfrm>
            <a:off x="8100664" y="0"/>
            <a:ext cx="1043336" cy="5143500"/>
          </a:xfrm>
          <a:custGeom>
            <a:rect b="b" l="l" r="r" t="t"/>
            <a:pathLst>
              <a:path extrusionOk="0" h="1593725" w="323280">
                <a:moveTo>
                  <a:pt x="0" y="0"/>
                </a:moveTo>
                <a:lnTo>
                  <a:pt x="323280" y="0"/>
                </a:lnTo>
                <a:lnTo>
                  <a:pt x="323280" y="1593725"/>
                </a:lnTo>
                <a:lnTo>
                  <a:pt x="0" y="1593725"/>
                </a:lnTo>
                <a:close/>
              </a:path>
            </a:pathLst>
          </a:custGeom>
          <a:blipFill rotWithShape="1">
            <a:blip r:embed="rId3">
              <a:alphaModFix/>
            </a:blip>
            <a:stretch>
              <a:fillRect b="0" l="-199925" r="-199925" t="0"/>
            </a:stretch>
          </a:blipFill>
          <a:ln>
            <a:noFill/>
          </a:ln>
        </p:spPr>
      </p:sp>
      <p:grpSp>
        <p:nvGrpSpPr>
          <p:cNvPr id="260" name="Google Shape;260;p36"/>
          <p:cNvGrpSpPr/>
          <p:nvPr/>
        </p:nvGrpSpPr>
        <p:grpSpPr>
          <a:xfrm>
            <a:off x="13767" y="414650"/>
            <a:ext cx="8237269" cy="5343665"/>
            <a:chOff x="-52" y="180947"/>
            <a:chExt cx="21966052" cy="14249773"/>
          </a:xfrm>
        </p:grpSpPr>
        <p:sp>
          <p:nvSpPr>
            <p:cNvPr id="261" name="Google Shape;261;p36"/>
            <p:cNvSpPr txBox="1"/>
            <p:nvPr/>
          </p:nvSpPr>
          <p:spPr>
            <a:xfrm>
              <a:off x="-52" y="180947"/>
              <a:ext cx="12300600" cy="197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4800" u="none" cap="none" strike="noStrike">
                  <a:solidFill>
                    <a:srgbClr val="0F8EF0"/>
                  </a:solidFill>
                  <a:latin typeface="Play"/>
                  <a:ea typeface="Play"/>
                  <a:cs typeface="Play"/>
                  <a:sym typeface="Play"/>
                </a:rPr>
                <a:t>The Future</a:t>
              </a:r>
              <a:endParaRPr sz="700"/>
            </a:p>
          </p:txBody>
        </p:sp>
        <p:sp>
          <p:nvSpPr>
            <p:cNvPr id="262" name="Google Shape;262;p36"/>
            <p:cNvSpPr txBox="1"/>
            <p:nvPr/>
          </p:nvSpPr>
          <p:spPr>
            <a:xfrm>
              <a:off x="0" y="1950720"/>
              <a:ext cx="21966000" cy="12480000"/>
            </a:xfrm>
            <a:prstGeom prst="rect">
              <a:avLst/>
            </a:prstGeom>
            <a:noFill/>
            <a:ln>
              <a:noFill/>
            </a:ln>
          </p:spPr>
          <p:txBody>
            <a:bodyPr anchorCtr="0" anchor="t" bIns="0" lIns="0" spcFirstLastPara="1" rIns="0" wrap="square" tIns="0">
              <a:spAutoFit/>
            </a:bodyPr>
            <a:lstStyle/>
            <a:p>
              <a:pPr indent="0" lvl="0" marL="0" marR="0" rtl="0" algn="l">
                <a:lnSpc>
                  <a:spcPct val="120018"/>
                </a:lnSpc>
                <a:spcBef>
                  <a:spcPts val="0"/>
                </a:spcBef>
                <a:spcAft>
                  <a:spcPts val="0"/>
                </a:spcAft>
                <a:buNone/>
              </a:pPr>
              <a:r>
                <a:rPr b="0" i="0" lang="en" sz="1600" u="none" cap="none" strike="noStrike">
                  <a:solidFill>
                    <a:srgbClr val="E1E1E1"/>
                  </a:solidFill>
                  <a:latin typeface="Arial"/>
                  <a:ea typeface="Arial"/>
                  <a:cs typeface="Arial"/>
                  <a:sym typeface="Arial"/>
                </a:rPr>
                <a:t>Embrace innovation and explore the technologies shaping tomorrow's world.</a:t>
              </a:r>
              <a:endParaRPr sz="700"/>
            </a:p>
            <a:p>
              <a:pPr indent="0" lvl="0" marL="0" marR="0" rtl="0" algn="l">
                <a:lnSpc>
                  <a:spcPct val="120018"/>
                </a:lnSpc>
                <a:spcBef>
                  <a:spcPts val="0"/>
                </a:spcBef>
                <a:spcAft>
                  <a:spcPts val="0"/>
                </a:spcAft>
                <a:buNone/>
              </a:pPr>
              <a:r>
                <a:rPr b="0" i="0" lang="en" sz="1600" u="none" cap="none" strike="noStrike">
                  <a:solidFill>
                    <a:srgbClr val="E1E1E1"/>
                  </a:solidFill>
                  <a:latin typeface="Arial"/>
                  <a:ea typeface="Arial"/>
                  <a:cs typeface="Arial"/>
                  <a:sym typeface="Arial"/>
                </a:rPr>
                <a:t>The proposed work can be further extended by implementing more advanced deep learning models such as transformer based super resolution methods and diffusion models to improve image reconstruction accuracy.</a:t>
              </a:r>
              <a:endParaRPr sz="700"/>
            </a:p>
            <a:p>
              <a:pPr indent="0" lvl="0" marL="0" marR="0" rtl="0" algn="l">
                <a:lnSpc>
                  <a:spcPct val="120018"/>
                </a:lnSpc>
                <a:spcBef>
                  <a:spcPts val="0"/>
                </a:spcBef>
                <a:spcAft>
                  <a:spcPts val="0"/>
                </a:spcAft>
                <a:buNone/>
              </a:pPr>
              <a:r>
                <a:rPr b="0" i="0" lang="en" sz="1600" u="none" cap="none" strike="noStrike">
                  <a:solidFill>
                    <a:srgbClr val="E1E1E1"/>
                  </a:solidFill>
                  <a:latin typeface="Arial"/>
                  <a:ea typeface="Arial"/>
                  <a:cs typeface="Arial"/>
                  <a:sym typeface="Arial"/>
                </a:rPr>
                <a:t>Future work can focus on developing lightweight and efficient models for real time satellite image processing with reduced computational cost. The system can also be improved by training on larger and more diverse satellite image datasets to enhance generalization performance.</a:t>
              </a:r>
              <a:endParaRPr sz="700"/>
            </a:p>
            <a:p>
              <a:pPr indent="0" lvl="0" marL="0" marR="0" rtl="0" algn="l">
                <a:lnSpc>
                  <a:spcPct val="120018"/>
                </a:lnSpc>
                <a:spcBef>
                  <a:spcPts val="0"/>
                </a:spcBef>
                <a:spcAft>
                  <a:spcPts val="0"/>
                </a:spcAft>
                <a:buNone/>
              </a:pPr>
              <a:r>
                <a:rPr b="0" i="0" lang="en" sz="1600" u="none" cap="none" strike="noStrike">
                  <a:solidFill>
                    <a:srgbClr val="E1E1E1"/>
                  </a:solidFill>
                  <a:latin typeface="Arial"/>
                  <a:ea typeface="Arial"/>
                  <a:cs typeface="Arial"/>
                  <a:sym typeface="Arial"/>
                </a:rPr>
                <a:t>Hybrid approaches combining multiple deep learning techniques such as convolutional neural networks and generative adversarial networks can be explored to improve image quality.</a:t>
              </a:r>
              <a:endParaRPr sz="700"/>
            </a:p>
            <a:p>
              <a:pPr indent="0" lvl="0" marL="0" marR="0" rtl="0" algn="l">
                <a:lnSpc>
                  <a:spcPct val="120018"/>
                </a:lnSpc>
                <a:spcBef>
                  <a:spcPts val="0"/>
                </a:spcBef>
                <a:spcAft>
                  <a:spcPts val="0"/>
                </a:spcAft>
                <a:buNone/>
              </a:pPr>
              <a:r>
                <a:rPr b="0" i="0" lang="en" sz="1600" u="none" cap="none" strike="noStrike">
                  <a:solidFill>
                    <a:srgbClr val="E1E1E1"/>
                  </a:solidFill>
                  <a:latin typeface="Arial"/>
                  <a:ea typeface="Arial"/>
                  <a:cs typeface="Arial"/>
                  <a:sym typeface="Arial"/>
                </a:rPr>
                <a:t>The proposed system can also be applied to other domains such as medical imaging, surveillance systems, and video resolution enhancement. Further research can focus on improving reconstruction of very small objects and reducing noise in satellite images.</a:t>
              </a:r>
              <a:endParaRPr sz="700"/>
            </a:p>
            <a:p>
              <a:pPr indent="0" lvl="0" marL="0" marR="0" rtl="0" algn="l">
                <a:lnSpc>
                  <a:spcPct val="120018"/>
                </a:lnSpc>
                <a:spcBef>
                  <a:spcPts val="0"/>
                </a:spcBef>
                <a:spcAft>
                  <a:spcPts val="0"/>
                </a:spcAft>
                <a:buNone/>
              </a:pPr>
              <a:r>
                <a:t/>
              </a:r>
              <a:endParaRPr b="0" i="0" sz="1600" u="none" cap="none" strike="noStrike">
                <a:solidFill>
                  <a:srgbClr val="E1E1E1"/>
                </a:solidFill>
                <a:latin typeface="Arial"/>
                <a:ea typeface="Arial"/>
                <a:cs typeface="Arial"/>
                <a:sym typeface="Arial"/>
              </a:endParaRPr>
            </a:p>
            <a:p>
              <a:pPr indent="0" lvl="0" marL="0" marR="0" rtl="0" algn="l">
                <a:lnSpc>
                  <a:spcPct val="120018"/>
                </a:lnSpc>
                <a:spcBef>
                  <a:spcPts val="0"/>
                </a:spcBef>
                <a:spcAft>
                  <a:spcPts val="0"/>
                </a:spcAft>
                <a:buNone/>
              </a:pPr>
              <a:r>
                <a:t/>
              </a:r>
              <a:endParaRPr b="0" i="0" sz="1600" u="none" cap="none" strike="noStrike">
                <a:solidFill>
                  <a:srgbClr val="E1E1E1"/>
                </a:solidFill>
                <a:latin typeface="Arial"/>
                <a:ea typeface="Arial"/>
                <a:cs typeface="Arial"/>
                <a:sym typeface="Arial"/>
              </a:endParaRPr>
            </a:p>
          </p:txBody>
        </p:sp>
      </p:grpSp>
      <p:cxnSp>
        <p:nvCxnSpPr>
          <p:cNvPr id="263" name="Google Shape;263;p36"/>
          <p:cNvCxnSpPr/>
          <p:nvPr/>
        </p:nvCxnSpPr>
        <p:spPr>
          <a:xfrm>
            <a:off x="0" y="338138"/>
            <a:ext cx="8251021" cy="0"/>
          </a:xfrm>
          <a:prstGeom prst="straightConnector1">
            <a:avLst/>
          </a:prstGeom>
          <a:noFill/>
          <a:ln cap="flat" cmpd="sng" w="19050">
            <a:solidFill>
              <a:srgbClr val="E1E1E1"/>
            </a:solidFill>
            <a:prstDash val="solid"/>
            <a:round/>
            <a:headEnd len="sm" w="sm" type="none"/>
            <a:tailEnd len="sm" w="sm" type="none"/>
          </a:ln>
        </p:spPr>
      </p:cxnSp>
      <p:cxnSp>
        <p:nvCxnSpPr>
          <p:cNvPr id="264" name="Google Shape;264;p36"/>
          <p:cNvCxnSpPr/>
          <p:nvPr/>
        </p:nvCxnSpPr>
        <p:spPr>
          <a:xfrm>
            <a:off x="-15336" y="5086350"/>
            <a:ext cx="8116000" cy="0"/>
          </a:xfrm>
          <a:prstGeom prst="straightConnector1">
            <a:avLst/>
          </a:prstGeom>
          <a:noFill/>
          <a:ln cap="flat" cmpd="sng" w="19050">
            <a:solidFill>
              <a:srgbClr val="E1E1E1"/>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68" name="Shape 268"/>
        <p:cNvGrpSpPr/>
        <p:nvPr/>
      </p:nvGrpSpPr>
      <p:grpSpPr>
        <a:xfrm>
          <a:off x="0" y="0"/>
          <a:ext cx="0" cy="0"/>
          <a:chOff x="0" y="0"/>
          <a:chExt cx="0" cy="0"/>
        </a:xfrm>
      </p:grpSpPr>
      <p:sp>
        <p:nvSpPr>
          <p:cNvPr id="269" name="Google Shape;269;p37"/>
          <p:cNvSpPr/>
          <p:nvPr/>
        </p:nvSpPr>
        <p:spPr>
          <a:xfrm>
            <a:off x="1132322" y="-867928"/>
            <a:ext cx="6879355" cy="6879355"/>
          </a:xfrm>
          <a:custGeom>
            <a:rect b="b" l="l" r="r" t="t"/>
            <a:pathLst>
              <a:path extrusionOk="0" h="13758710" w="13758710">
                <a:moveTo>
                  <a:pt x="0" y="0"/>
                </a:moveTo>
                <a:lnTo>
                  <a:pt x="13758710" y="0"/>
                </a:lnTo>
                <a:lnTo>
                  <a:pt x="13758710" y="13758710"/>
                </a:lnTo>
                <a:lnTo>
                  <a:pt x="0" y="13758710"/>
                </a:lnTo>
                <a:lnTo>
                  <a:pt x="0" y="0"/>
                </a:lnTo>
                <a:close/>
              </a:path>
            </a:pathLst>
          </a:custGeom>
          <a:blipFill rotWithShape="1">
            <a:blip r:embed="rId3">
              <a:alphaModFix/>
            </a:blip>
            <a:stretch>
              <a:fillRect b="0" l="0" r="0" t="0"/>
            </a:stretch>
          </a:blipFill>
          <a:ln>
            <a:noFill/>
          </a:ln>
        </p:spPr>
      </p:sp>
      <p:sp>
        <p:nvSpPr>
          <p:cNvPr id="270" name="Google Shape;270;p37"/>
          <p:cNvSpPr txBox="1"/>
          <p:nvPr/>
        </p:nvSpPr>
        <p:spPr>
          <a:xfrm>
            <a:off x="811696" y="1157483"/>
            <a:ext cx="7520607" cy="2542786"/>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0" i="0" lang="en" sz="14800" u="none" cap="none" strike="noStrike">
                <a:solidFill>
                  <a:srgbClr val="FFFFFF"/>
                </a:solidFill>
                <a:latin typeface="Anton"/>
                <a:ea typeface="Anton"/>
                <a:cs typeface="Anton"/>
                <a:sym typeface="Anton"/>
              </a:rPr>
              <a:t>THANKYOU</a:t>
            </a:r>
            <a:endParaRPr sz="700"/>
          </a:p>
        </p:txBody>
      </p:sp>
      <p:cxnSp>
        <p:nvCxnSpPr>
          <p:cNvPr id="271" name="Google Shape;271;p37"/>
          <p:cNvCxnSpPr/>
          <p:nvPr/>
        </p:nvCxnSpPr>
        <p:spPr>
          <a:xfrm>
            <a:off x="0" y="3645387"/>
            <a:ext cx="5326186" cy="0"/>
          </a:xfrm>
          <a:prstGeom prst="straightConnector1">
            <a:avLst/>
          </a:prstGeom>
          <a:noFill/>
          <a:ln cap="flat" cmpd="sng" w="19050">
            <a:solidFill>
              <a:srgbClr val="FFFFFF"/>
            </a:solidFill>
            <a:prstDash val="solid"/>
            <a:round/>
            <a:headEnd len="sm" w="sm" type="none"/>
            <a:tailEnd len="lg" w="lg" type="oval"/>
          </a:ln>
        </p:spPr>
      </p:cxnSp>
      <p:sp>
        <p:nvSpPr>
          <p:cNvPr id="272" name="Google Shape;272;p37"/>
          <p:cNvSpPr/>
          <p:nvPr/>
        </p:nvSpPr>
        <p:spPr>
          <a:xfrm>
            <a:off x="414795" y="3654912"/>
            <a:ext cx="94793" cy="94793"/>
          </a:xfrm>
          <a:custGeom>
            <a:rect b="b" l="l" r="r" t="t"/>
            <a:pathLst>
              <a:path extrusionOk="0" h="189585" w="189585">
                <a:moveTo>
                  <a:pt x="0" y="0"/>
                </a:moveTo>
                <a:lnTo>
                  <a:pt x="189585" y="0"/>
                </a:lnTo>
                <a:lnTo>
                  <a:pt x="189585" y="189584"/>
                </a:lnTo>
                <a:lnTo>
                  <a:pt x="0" y="189584"/>
                </a:lnTo>
                <a:lnTo>
                  <a:pt x="0" y="0"/>
                </a:lnTo>
                <a:close/>
              </a:path>
            </a:pathLst>
          </a:custGeom>
          <a:blipFill rotWithShape="1">
            <a:blip r:embed="rId4">
              <a:alphaModFix/>
            </a:blip>
            <a:stretch>
              <a:fillRect b="0" l="0" r="0" t="0"/>
            </a:stretch>
          </a:blipFill>
          <a:ln>
            <a:noFill/>
          </a:ln>
        </p:spPr>
      </p:sp>
      <p:sp>
        <p:nvSpPr>
          <p:cNvPr id="273" name="Google Shape;273;p37"/>
          <p:cNvSpPr/>
          <p:nvPr/>
        </p:nvSpPr>
        <p:spPr>
          <a:xfrm>
            <a:off x="5226631" y="3550594"/>
            <a:ext cx="199110" cy="199110"/>
          </a:xfrm>
          <a:custGeom>
            <a:rect b="b" l="l" r="r" t="t"/>
            <a:pathLst>
              <a:path extrusionOk="0" h="398219" w="398219">
                <a:moveTo>
                  <a:pt x="0" y="0"/>
                </a:moveTo>
                <a:lnTo>
                  <a:pt x="398220" y="0"/>
                </a:lnTo>
                <a:lnTo>
                  <a:pt x="398220" y="398219"/>
                </a:lnTo>
                <a:lnTo>
                  <a:pt x="0" y="398219"/>
                </a:lnTo>
                <a:lnTo>
                  <a:pt x="0" y="0"/>
                </a:lnTo>
                <a:close/>
              </a:path>
            </a:pathLst>
          </a:custGeom>
          <a:blipFill rotWithShape="1">
            <a:blip r:embed="rId4">
              <a:alphaModFix/>
            </a:blip>
            <a:stretch>
              <a:fillRect b="0" l="0" r="0" t="0"/>
            </a:stretch>
          </a:blipFill>
          <a:ln>
            <a:noFill/>
          </a:ln>
        </p:spPr>
      </p:sp>
      <p:cxnSp>
        <p:nvCxnSpPr>
          <p:cNvPr id="274" name="Google Shape;274;p37"/>
          <p:cNvCxnSpPr/>
          <p:nvPr/>
        </p:nvCxnSpPr>
        <p:spPr>
          <a:xfrm>
            <a:off x="3646700" y="1214058"/>
            <a:ext cx="5497200" cy="0"/>
          </a:xfrm>
          <a:prstGeom prst="straightConnector1">
            <a:avLst/>
          </a:prstGeom>
          <a:noFill/>
          <a:ln cap="flat" cmpd="sng" w="19050">
            <a:solidFill>
              <a:srgbClr val="FFFFFF"/>
            </a:solidFill>
            <a:prstDash val="solid"/>
            <a:round/>
            <a:headEnd len="lg" w="lg" type="oval"/>
            <a:tailEnd len="sm" w="sm" type="none"/>
          </a:ln>
        </p:spPr>
      </p:cxnSp>
      <p:sp>
        <p:nvSpPr>
          <p:cNvPr id="275" name="Google Shape;275;p37"/>
          <p:cNvSpPr/>
          <p:nvPr/>
        </p:nvSpPr>
        <p:spPr>
          <a:xfrm>
            <a:off x="3547146" y="1348440"/>
            <a:ext cx="199110" cy="199109"/>
          </a:xfrm>
          <a:custGeom>
            <a:rect b="b" l="l" r="r" t="t"/>
            <a:pathLst>
              <a:path extrusionOk="0" h="398219" w="398219">
                <a:moveTo>
                  <a:pt x="0" y="0"/>
                </a:moveTo>
                <a:lnTo>
                  <a:pt x="398220" y="0"/>
                </a:lnTo>
                <a:lnTo>
                  <a:pt x="398220" y="398219"/>
                </a:lnTo>
                <a:lnTo>
                  <a:pt x="0" y="398219"/>
                </a:lnTo>
                <a:lnTo>
                  <a:pt x="0" y="0"/>
                </a:lnTo>
                <a:close/>
              </a:path>
            </a:pathLst>
          </a:custGeom>
          <a:blipFill rotWithShape="1">
            <a:blip r:embed="rId4">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